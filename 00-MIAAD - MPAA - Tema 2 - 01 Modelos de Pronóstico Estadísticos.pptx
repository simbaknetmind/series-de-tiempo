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627" r:id="rId2"/>
    <p:sldId id="369" r:id="rId3"/>
    <p:sldId id="670" r:id="rId4"/>
    <p:sldId id="674" r:id="rId5"/>
    <p:sldId id="675" r:id="rId6"/>
    <p:sldId id="676" r:id="rId7"/>
    <p:sldId id="677" r:id="rId8"/>
    <p:sldId id="679" r:id="rId9"/>
    <p:sldId id="678" r:id="rId10"/>
    <p:sldId id="682" r:id="rId11"/>
    <p:sldId id="681" r:id="rId12"/>
    <p:sldId id="683" r:id="rId13"/>
    <p:sldId id="684" r:id="rId14"/>
    <p:sldId id="721" r:id="rId15"/>
    <p:sldId id="722" r:id="rId16"/>
    <p:sldId id="685" r:id="rId17"/>
    <p:sldId id="688" r:id="rId18"/>
    <p:sldId id="690" r:id="rId19"/>
    <p:sldId id="689" r:id="rId20"/>
    <p:sldId id="691" r:id="rId21"/>
    <p:sldId id="692" r:id="rId22"/>
    <p:sldId id="686" r:id="rId23"/>
    <p:sldId id="693" r:id="rId24"/>
    <p:sldId id="696" r:id="rId25"/>
    <p:sldId id="703" r:id="rId26"/>
    <p:sldId id="704" r:id="rId27"/>
    <p:sldId id="706" r:id="rId28"/>
    <p:sldId id="705" r:id="rId29"/>
    <p:sldId id="702" r:id="rId30"/>
    <p:sldId id="697" r:id="rId31"/>
    <p:sldId id="695" r:id="rId32"/>
    <p:sldId id="694" r:id="rId33"/>
    <p:sldId id="698" r:id="rId34"/>
    <p:sldId id="708" r:id="rId35"/>
    <p:sldId id="709" r:id="rId36"/>
    <p:sldId id="710" r:id="rId37"/>
    <p:sldId id="707" r:id="rId38"/>
    <p:sldId id="699" r:id="rId39"/>
    <p:sldId id="700" r:id="rId40"/>
    <p:sldId id="701" r:id="rId41"/>
    <p:sldId id="711" r:id="rId42"/>
    <p:sldId id="712" r:id="rId43"/>
    <p:sldId id="714" r:id="rId44"/>
    <p:sldId id="715" r:id="rId45"/>
    <p:sldId id="717" r:id="rId46"/>
    <p:sldId id="716" r:id="rId47"/>
    <p:sldId id="718" r:id="rId48"/>
    <p:sldId id="713" r:id="rId49"/>
    <p:sldId id="719" r:id="rId50"/>
    <p:sldId id="720" r:id="rId51"/>
    <p:sldId id="723" r:id="rId52"/>
    <p:sldId id="724" r:id="rId53"/>
    <p:sldId id="725" r:id="rId54"/>
    <p:sldId id="370" r:id="rId55"/>
    <p:sldId id="671" r:id="rId56"/>
    <p:sldId id="672" r:id="rId57"/>
    <p:sldId id="673" r:id="rId58"/>
    <p:sldId id="337" r:id="rId59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EC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40" autoAdjust="0"/>
    <p:restoredTop sz="94660"/>
  </p:normalViewPr>
  <p:slideViewPr>
    <p:cSldViewPr snapToGrid="0">
      <p:cViewPr varScale="1">
        <p:scale>
          <a:sx n="75" d="100"/>
          <a:sy n="75" d="100"/>
        </p:scale>
        <p:origin x="158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51C602-3B36-4E69-B63A-A4595467CA03}" type="datetimeFigureOut">
              <a:rPr lang="es-MX" smtClean="0"/>
              <a:pPr/>
              <a:t>29/01/2026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6A343-CA9C-4352-BAF9-B0C7FE3CDCD4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5628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EE52-1405-44D4-82FC-FA4493DB5775}" type="datetimeFigureOut">
              <a:rPr lang="es-MX" smtClean="0"/>
              <a:pPr/>
              <a:t>29/01/2026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0484-4460-4BF1-9FEF-0BDA6B092450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EE52-1405-44D4-82FC-FA4493DB5775}" type="datetimeFigureOut">
              <a:rPr lang="es-MX" smtClean="0"/>
              <a:pPr/>
              <a:t>29/01/2026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0484-4460-4BF1-9FEF-0BDA6B092450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EE52-1405-44D4-82FC-FA4493DB5775}" type="datetimeFigureOut">
              <a:rPr lang="es-MX" smtClean="0"/>
              <a:pPr/>
              <a:t>29/01/2026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0484-4460-4BF1-9FEF-0BDA6B092450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EE52-1405-44D4-82FC-FA4493DB5775}" type="datetimeFigureOut">
              <a:rPr lang="es-MX" smtClean="0"/>
              <a:pPr/>
              <a:t>29/01/2026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0484-4460-4BF1-9FEF-0BDA6B092450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EE52-1405-44D4-82FC-FA4493DB5775}" type="datetimeFigureOut">
              <a:rPr lang="es-MX" smtClean="0"/>
              <a:pPr/>
              <a:t>29/01/2026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0484-4460-4BF1-9FEF-0BDA6B092450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EE52-1405-44D4-82FC-FA4493DB5775}" type="datetimeFigureOut">
              <a:rPr lang="es-MX" smtClean="0"/>
              <a:pPr/>
              <a:t>29/01/2026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0484-4460-4BF1-9FEF-0BDA6B092450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EE52-1405-44D4-82FC-FA4493DB5775}" type="datetimeFigureOut">
              <a:rPr lang="es-MX" smtClean="0"/>
              <a:pPr/>
              <a:t>29/01/2026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0484-4460-4BF1-9FEF-0BDA6B092450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EE52-1405-44D4-82FC-FA4493DB5775}" type="datetimeFigureOut">
              <a:rPr lang="es-MX" smtClean="0"/>
              <a:pPr/>
              <a:t>29/01/2026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0484-4460-4BF1-9FEF-0BDA6B092450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EE52-1405-44D4-82FC-FA4493DB5775}" type="datetimeFigureOut">
              <a:rPr lang="es-MX" smtClean="0"/>
              <a:pPr/>
              <a:t>29/01/2026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0484-4460-4BF1-9FEF-0BDA6B092450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EE52-1405-44D4-82FC-FA4493DB5775}" type="datetimeFigureOut">
              <a:rPr lang="es-MX" smtClean="0"/>
              <a:pPr/>
              <a:t>29/01/2026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0484-4460-4BF1-9FEF-0BDA6B092450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EE52-1405-44D4-82FC-FA4493DB5775}" type="datetimeFigureOut">
              <a:rPr lang="es-MX" smtClean="0"/>
              <a:pPr/>
              <a:t>29/01/2026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0484-4460-4BF1-9FEF-0BDA6B092450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EEE52-1405-44D4-82FC-FA4493DB5775}" type="datetimeFigureOut">
              <a:rPr lang="es-MX" smtClean="0"/>
              <a:pPr/>
              <a:t>29/01/2026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A0484-4460-4BF1-9FEF-0BDA6B092450}" type="slidenum">
              <a:rPr lang="es-MX" smtClean="0"/>
              <a:pPr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0.png"/><Relationship Id="rId7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0.png"/><Relationship Id="rId7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357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CuadroTexto"/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Trebuchet MS" pitchFamily="34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Trebuchet MS" pitchFamily="34" charset="0"/>
              </a:rPr>
              <a:t>de Cd. Juárez</a:t>
            </a:r>
          </a:p>
        </p:txBody>
      </p:sp>
      <p:pic>
        <p:nvPicPr>
          <p:cNvPr id="6" name="Picture 4" descr="C:\Universidad Autónoma de Ciudad Juarez\Ago-Dic 2016\Escudo uacj 2015-color-sin fond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72330" y="0"/>
            <a:ext cx="1714512" cy="1714512"/>
          </a:xfrm>
          <a:prstGeom prst="rect">
            <a:avLst/>
          </a:prstGeom>
          <a:noFill/>
        </p:spPr>
      </p:pic>
      <p:sp>
        <p:nvSpPr>
          <p:cNvPr id="2" name="7 CuadroTexto">
            <a:extLst>
              <a:ext uri="{FF2B5EF4-FFF2-40B4-BE49-F238E27FC236}">
                <a16:creationId xmlns:a16="http://schemas.microsoft.com/office/drawing/2014/main" id="{0A3B4C59-77CE-34B3-68D2-61DDD1DE4AC9}"/>
              </a:ext>
            </a:extLst>
          </p:cNvPr>
          <p:cNvSpPr txBox="1"/>
          <p:nvPr/>
        </p:nvSpPr>
        <p:spPr>
          <a:xfrm>
            <a:off x="3009092" y="6129687"/>
            <a:ext cx="3125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latin typeface="Trebuchet MS" pitchFamily="34" charset="0"/>
              </a:rPr>
              <a:t>Dr. Rogelio Florencia Juárez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B1CD504-D8FD-73A9-1894-23A25D10437C}"/>
              </a:ext>
            </a:extLst>
          </p:cNvPr>
          <p:cNvSpPr txBox="1"/>
          <p:nvPr/>
        </p:nvSpPr>
        <p:spPr>
          <a:xfrm>
            <a:off x="1624672" y="3841564"/>
            <a:ext cx="59287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>
                <a:latin typeface="Trebuchet MS" pitchFamily="34" charset="0"/>
                <a:cs typeface="Arial" pitchFamily="34" charset="0"/>
              </a:rPr>
              <a:t>Métodos para Pronóstico y Analítica Avanzada</a:t>
            </a:r>
          </a:p>
        </p:txBody>
      </p:sp>
      <p:pic>
        <p:nvPicPr>
          <p:cNvPr id="1028" name="Picture 4" descr="Forecasting with Time series analysis and Python | by Daily Dose of Python  | Medium">
            <a:extLst>
              <a:ext uri="{FF2B5EF4-FFF2-40B4-BE49-F238E27FC236}">
                <a16:creationId xmlns:a16="http://schemas.microsoft.com/office/drawing/2014/main" id="{57CCDCF5-F635-581A-6F92-FC7027D131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11245" r="8872" b="12035"/>
          <a:stretch>
            <a:fillRect/>
          </a:stretch>
        </p:blipFill>
        <p:spPr bwMode="auto">
          <a:xfrm>
            <a:off x="762000" y="1714512"/>
            <a:ext cx="7863840" cy="190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Vicente García Jiménez - Professor (Full) at Universidad Autónoma de Ciudad  Juárez | LinkedIn">
            <a:extLst>
              <a:ext uri="{FF2B5EF4-FFF2-40B4-BE49-F238E27FC236}">
                <a16:creationId xmlns:a16="http://schemas.microsoft.com/office/drawing/2014/main" id="{36F1D1C8-6847-A7BE-CE91-3590EB8010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72" t="11130" r="11340" b="14726"/>
          <a:stretch>
            <a:fillRect/>
          </a:stretch>
        </p:blipFill>
        <p:spPr bwMode="auto">
          <a:xfrm>
            <a:off x="281271" y="5020275"/>
            <a:ext cx="1801066" cy="171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E861F4A-5961-097A-244A-42F244E46B1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891" y="5311408"/>
            <a:ext cx="1583838" cy="1388842"/>
          </a:xfrm>
          <a:prstGeom prst="rect">
            <a:avLst/>
          </a:prstGeom>
        </p:spPr>
      </p:pic>
      <p:sp>
        <p:nvSpPr>
          <p:cNvPr id="13" name="9 CuadroTexto">
            <a:extLst>
              <a:ext uri="{FF2B5EF4-FFF2-40B4-BE49-F238E27FC236}">
                <a16:creationId xmlns:a16="http://schemas.microsoft.com/office/drawing/2014/main" id="{6D641226-DD5C-8A9A-6A77-53574CF27540}"/>
              </a:ext>
            </a:extLst>
          </p:cNvPr>
          <p:cNvSpPr txBox="1"/>
          <p:nvPr/>
        </p:nvSpPr>
        <p:spPr>
          <a:xfrm>
            <a:off x="1381760" y="5169803"/>
            <a:ext cx="6151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s-MX" b="1" dirty="0">
                <a:latin typeface="Trebuchet MS"/>
                <a:cs typeface="Trebuchet MS"/>
              </a:rPr>
              <a:t>TEMA 2: </a:t>
            </a:r>
            <a:r>
              <a:rPr lang="es-MX" b="1" dirty="0"/>
              <a:t>Modelos de Pronóstico Estadísticos</a:t>
            </a:r>
            <a:r>
              <a:rPr lang="es-MX" b="1" dirty="0">
                <a:latin typeface="Trebuchet MS"/>
                <a:cs typeface="Trebuchet M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/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latin typeface="Trebuchet MS" pitchFamily="34" charset="0"/>
                <a:cs typeface="Arial" pitchFamily="34" charset="0"/>
              </a:rPr>
              <a:t>Contenido</a:t>
            </a:r>
          </a:p>
        </p:txBody>
      </p:sp>
      <p:sp>
        <p:nvSpPr>
          <p:cNvPr id="7" name="2 Marcador de contenido"/>
          <p:cNvSpPr txBox="1">
            <a:spLocks/>
          </p:cNvSpPr>
          <p:nvPr/>
        </p:nvSpPr>
        <p:spPr>
          <a:xfrm>
            <a:off x="319088" y="789158"/>
            <a:ext cx="8539192" cy="43484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168400" indent="-468313" algn="just">
              <a:lnSpc>
                <a:spcPct val="150000"/>
              </a:lnSpc>
              <a:buFont typeface="Wingdings" charset="2"/>
              <a:buChar char="q"/>
            </a:pPr>
            <a:r>
              <a:rPr lang="es-MX" sz="2400" dirty="0">
                <a:latin typeface="Trebuchet MS"/>
                <a:cs typeface="Trebuchet MS"/>
              </a:rPr>
              <a:t>Métodos de suavizado</a:t>
            </a:r>
          </a:p>
          <a:p>
            <a:pPr marL="1168400" indent="-468313" algn="just">
              <a:lnSpc>
                <a:spcPct val="150000"/>
              </a:lnSpc>
              <a:buFont typeface="Wingdings" charset="2"/>
              <a:buChar char="q"/>
            </a:pPr>
            <a:endParaRPr lang="es-MX" sz="2400" dirty="0">
              <a:latin typeface="Trebuchet MS"/>
              <a:cs typeface="Trebuchet MS"/>
            </a:endParaRPr>
          </a:p>
          <a:p>
            <a:pPr marL="1168400" indent="-468313" algn="just">
              <a:lnSpc>
                <a:spcPct val="150000"/>
              </a:lnSpc>
              <a:buFont typeface="Wingdings" charset="2"/>
              <a:buChar char="q"/>
            </a:pPr>
            <a:r>
              <a:rPr lang="es-MX" sz="2400" dirty="0">
                <a:latin typeface="Trebuchet MS"/>
                <a:cs typeface="Trebuchet MS"/>
              </a:rPr>
              <a:t>Modelos de suavizamiento exponencial</a:t>
            </a:r>
          </a:p>
          <a:p>
            <a:pPr marL="1168400" indent="-468313" algn="just">
              <a:lnSpc>
                <a:spcPct val="150000"/>
              </a:lnSpc>
              <a:buFont typeface="Wingdings" charset="2"/>
              <a:buChar char="q"/>
            </a:pPr>
            <a:endParaRPr lang="es-MX" sz="2400" dirty="0">
              <a:latin typeface="Trebuchet MS"/>
              <a:cs typeface="Trebuchet MS"/>
            </a:endParaRPr>
          </a:p>
          <a:p>
            <a:pPr marL="1168400" indent="-468313" algn="just">
              <a:buFont typeface="Wingdings" charset="2"/>
              <a:buChar char="q"/>
            </a:pPr>
            <a:r>
              <a:rPr lang="es-MX" sz="2400" dirty="0">
                <a:latin typeface="Trebuchet MS"/>
                <a:cs typeface="Trebuchet MS"/>
              </a:rPr>
              <a:t>Modelos ARIMA (</a:t>
            </a:r>
            <a:r>
              <a:rPr lang="es-MX" sz="2400" i="1" dirty="0" err="1">
                <a:latin typeface="Trebuchet MS"/>
                <a:cs typeface="Trebuchet MS"/>
              </a:rPr>
              <a:t>Autoregressive</a:t>
            </a:r>
            <a:r>
              <a:rPr lang="es-MX" sz="2400" i="1" dirty="0">
                <a:latin typeface="Trebuchet MS"/>
                <a:cs typeface="Trebuchet MS"/>
              </a:rPr>
              <a:t> </a:t>
            </a:r>
            <a:r>
              <a:rPr lang="es-MX" sz="2400" i="1" dirty="0" err="1">
                <a:latin typeface="Trebuchet MS"/>
                <a:cs typeface="Trebuchet MS"/>
              </a:rPr>
              <a:t>Integrated</a:t>
            </a:r>
            <a:r>
              <a:rPr lang="es-MX" sz="2400" i="1" dirty="0">
                <a:latin typeface="Trebuchet MS"/>
                <a:cs typeface="Trebuchet MS"/>
              </a:rPr>
              <a:t> </a:t>
            </a:r>
            <a:r>
              <a:rPr lang="es-MX" sz="2400" i="1" dirty="0" err="1">
                <a:latin typeface="Trebuchet MS"/>
                <a:cs typeface="Trebuchet MS"/>
              </a:rPr>
              <a:t>Moving</a:t>
            </a:r>
            <a:r>
              <a:rPr lang="es-MX" sz="2400" i="1" dirty="0">
                <a:latin typeface="Trebuchet MS"/>
                <a:cs typeface="Trebuchet MS"/>
              </a:rPr>
              <a:t> </a:t>
            </a:r>
            <a:r>
              <a:rPr lang="es-MX" sz="2400" i="1" dirty="0" err="1">
                <a:latin typeface="Trebuchet MS"/>
                <a:cs typeface="Trebuchet MS"/>
              </a:rPr>
              <a:t>Average</a:t>
            </a:r>
            <a:r>
              <a:rPr lang="es-MX" sz="2400" dirty="0">
                <a:latin typeface="Trebuchet MS"/>
                <a:cs typeface="Trebuchet MS"/>
              </a:rPr>
              <a:t>)</a:t>
            </a:r>
          </a:p>
          <a:p>
            <a:pPr marL="1168400" indent="-468313" algn="just">
              <a:buFont typeface="Wingdings" charset="2"/>
              <a:buChar char="q"/>
            </a:pPr>
            <a:endParaRPr lang="es-MX" sz="2400" dirty="0">
              <a:latin typeface="Trebuchet MS"/>
              <a:cs typeface="Trebuchet MS"/>
            </a:endParaRPr>
          </a:p>
          <a:p>
            <a:pPr marL="1168400" indent="-468313" algn="just">
              <a:lnSpc>
                <a:spcPct val="150000"/>
              </a:lnSpc>
              <a:buFont typeface="Wingdings" charset="2"/>
              <a:buChar char="q"/>
            </a:pPr>
            <a:r>
              <a:rPr lang="es-MX" sz="2400" dirty="0">
                <a:latin typeface="Trebuchet MS"/>
                <a:cs typeface="Trebuchet MS"/>
              </a:rPr>
              <a:t>Métodos de descomposición de series temporales</a:t>
            </a:r>
          </a:p>
          <a:p>
            <a:pPr marL="1168400" indent="-468313" algn="just">
              <a:lnSpc>
                <a:spcPct val="150000"/>
              </a:lnSpc>
              <a:buFont typeface="Wingdings" charset="2"/>
              <a:buChar char="q"/>
            </a:pPr>
            <a:endParaRPr lang="es-MX" sz="2400" dirty="0">
              <a:latin typeface="Trebuchet MS"/>
              <a:cs typeface="Trebuchet MS"/>
            </a:endParaRPr>
          </a:p>
          <a:p>
            <a:pPr marL="1168400" indent="-468313" algn="just">
              <a:buFont typeface="Wingdings" charset="2"/>
              <a:buChar char="q"/>
            </a:pPr>
            <a:r>
              <a:rPr lang="es-MX" sz="2400" dirty="0">
                <a:latin typeface="Trebuchet MS"/>
                <a:cs typeface="Trebuchet MS"/>
              </a:rPr>
              <a:t>Modelos de tendencia y estacionalidad en series temporales</a:t>
            </a:r>
            <a:endParaRPr lang="es-ES" sz="2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340048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AC3FC-5263-75B4-0DD8-0B7D39D2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2ECF8C8C-44DC-8C4E-D913-374D6AC128FB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D4268E21-28F1-01BD-BD6C-961A5B3E4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6D3FA535-83DB-B8E2-DD28-B2CF4B96B27C}"/>
              </a:ext>
            </a:extLst>
          </p:cNvPr>
          <p:cNvSpPr txBox="1"/>
          <p:nvPr/>
        </p:nvSpPr>
        <p:spPr>
          <a:xfrm>
            <a:off x="214282" y="2558795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</a:t>
            </a:r>
          </a:p>
        </p:txBody>
      </p:sp>
    </p:spTree>
    <p:extLst>
      <p:ext uri="{BB962C8B-B14F-4D97-AF65-F5344CB8AC3E}">
        <p14:creationId xmlns:p14="http://schemas.microsoft.com/office/powerpoint/2010/main" val="3212639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8E9F-E468-5079-045F-1A3A4EE85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04F53917-5E31-CA78-B351-77C1E59C4556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46932612-144E-2D5D-B27C-B41C86F57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16809D34-1B5A-03B7-336D-B7B77464B8C9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EEB33528-181B-55E6-1B30-34ED03BCCCB7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dirty="0">
                <a:latin typeface="+mj-lt"/>
                <a:cs typeface="Trebuchet MS"/>
              </a:rPr>
              <a:t>Constituyen una de las familias fundamentales en el análisis y pronóstico de series de tiempo.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s-MX" dirty="0">
              <a:latin typeface="+mj-lt"/>
              <a:cs typeface="Trebuchet MS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s-MX" dirty="0">
              <a:latin typeface="+mj-lt"/>
              <a:cs typeface="Trebuchet MS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dirty="0">
                <a:latin typeface="+mj-lt"/>
                <a:cs typeface="Trebuchet MS"/>
              </a:rPr>
              <a:t>No modelan explícitamente la estructura probabilística de los datos. </a:t>
            </a:r>
          </a:p>
          <a:p>
            <a:pPr marL="742950" lvl="1" indent="-285750" algn="just">
              <a:buFont typeface="Cambria Math" panose="02040503050406030204" pitchFamily="18" charset="0"/>
              <a:buChar char="⎼"/>
            </a:pPr>
            <a:r>
              <a:rPr lang="es-MX" dirty="0">
                <a:latin typeface="+mj-lt"/>
                <a:cs typeface="Trebuchet MS"/>
              </a:rPr>
              <a:t>Reducen la variabilidad aleatoria (ruido) para revelar patrones subyacentes como el </a:t>
            </a:r>
            <a:r>
              <a:rPr lang="es-MX" b="1" i="1" dirty="0">
                <a:latin typeface="+mj-lt"/>
                <a:cs typeface="Trebuchet MS"/>
              </a:rPr>
              <a:t>nivel</a:t>
            </a:r>
            <a:r>
              <a:rPr lang="es-MX" dirty="0">
                <a:latin typeface="+mj-lt"/>
                <a:cs typeface="Trebuchet MS"/>
              </a:rPr>
              <a:t> (</a:t>
            </a:r>
            <a:r>
              <a:rPr lang="es-MX" dirty="0"/>
              <a:t>valor real que tiene la serie en un determinado momento, sin ruido</a:t>
            </a:r>
            <a:r>
              <a:rPr lang="es-MX" dirty="0">
                <a:latin typeface="+mj-lt"/>
                <a:cs typeface="Trebuchet MS"/>
              </a:rPr>
              <a:t>), la </a:t>
            </a:r>
            <a:r>
              <a:rPr lang="es-MX" b="1" i="1" dirty="0">
                <a:latin typeface="+mj-lt"/>
                <a:cs typeface="Trebuchet MS"/>
              </a:rPr>
              <a:t>tendencia</a:t>
            </a:r>
            <a:r>
              <a:rPr lang="es-MX" dirty="0">
                <a:latin typeface="+mj-lt"/>
                <a:cs typeface="Trebuchet MS"/>
              </a:rPr>
              <a:t> o la </a:t>
            </a:r>
            <a:r>
              <a:rPr lang="es-MX" b="1" i="1" dirty="0">
                <a:latin typeface="+mj-lt"/>
                <a:cs typeface="Trebuchet MS"/>
              </a:rPr>
              <a:t>estacionalidad</a:t>
            </a:r>
            <a:r>
              <a:rPr lang="es-MX" dirty="0">
                <a:latin typeface="+mj-lt"/>
                <a:cs typeface="Trebuchet MS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s-MX" dirty="0">
              <a:latin typeface="+mj-lt"/>
              <a:cs typeface="Trebuchet MS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s-MX" dirty="0">
              <a:latin typeface="+mj-lt"/>
              <a:cs typeface="Trebuchet MS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MX" dirty="0">
                <a:latin typeface="+mj-lt"/>
                <a:cs typeface="Trebuchet MS"/>
              </a:rPr>
              <a:t>Suponen que una serie puede interpretarse como una señal compuesta por </a:t>
            </a:r>
            <a:r>
              <a:rPr lang="es-MX" b="1" i="1" dirty="0">
                <a:latin typeface="+mj-lt"/>
                <a:cs typeface="Trebuchet MS"/>
              </a:rPr>
              <a:t>una estructura sistemática </a:t>
            </a:r>
            <a:r>
              <a:rPr lang="es-MX" dirty="0">
                <a:latin typeface="+mj-lt"/>
                <a:cs typeface="Trebuchet MS"/>
              </a:rPr>
              <a:t>más </a:t>
            </a:r>
            <a:r>
              <a:rPr lang="es-MX" b="1" i="1" dirty="0">
                <a:latin typeface="+mj-lt"/>
                <a:cs typeface="Trebuchet MS"/>
              </a:rPr>
              <a:t>un componente aleatorio</a:t>
            </a:r>
          </a:p>
          <a:p>
            <a:pPr marL="742950" lvl="1" indent="-285750" algn="just">
              <a:buFont typeface="Cambria Math" panose="02040503050406030204" pitchFamily="18" charset="0"/>
              <a:buChar char="⎼"/>
            </a:pPr>
            <a:r>
              <a:rPr lang="es-MX" dirty="0">
                <a:latin typeface="+mj-lt"/>
              </a:rPr>
              <a:t>al suavizar la serie se atenúan las fluctuaciones erráticas sin destruir la información relevante.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D8302E6-4AC7-5183-7926-1B16B0F9E7A7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51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B7025-4202-31A0-471B-2BCAA8823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AFAD6918-6B68-D055-BD2C-CC4A0065AB33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DC0341C8-02FD-1F63-243E-95C9828C2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52DAFE97-B81D-9E54-CEB4-E00CAE0D9554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023E39D0-91C9-0B74-12A3-F32CC261C9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0" lvl="1" algn="just"/>
                <a:r>
                  <a:rPr lang="es-MX" dirty="0">
                    <a:latin typeface="+mj-lt"/>
                  </a:rPr>
                  <a:t>Matemáticamente:</a:t>
                </a:r>
              </a:p>
              <a:p>
                <a:pPr marL="0" lvl="1" algn="ctr"/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s-MX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s-MX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s-MX" dirty="0">
                  <a:latin typeface="+mj-lt"/>
                </a:endParaRPr>
              </a:p>
              <a:p>
                <a:pPr lvl="1" algn="just"/>
                <a:endParaRPr lang="es-MX" dirty="0">
                  <a:latin typeface="+mj-lt"/>
                </a:endParaRPr>
              </a:p>
              <a:p>
                <a:pPr marL="0" lvl="1" algn="just"/>
                <a:r>
                  <a:rPr lang="es-MX" dirty="0"/>
                  <a:t>donde: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/>
                  <a:t>: valor observado de la serie en el tiempo 𝑡.</a:t>
                </a:r>
              </a:p>
              <a:p>
                <a:pPr lvl="1" algn="just"/>
                <a:endParaRPr lang="es-MX" sz="500" dirty="0"/>
              </a:p>
              <a:p>
                <a:pPr marL="803275" lvl="1" indent="-346075"/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/>
                  <a:t>: componente sistemático (señal). Representa el comportamiento estructurado y explicable de la serie.</a:t>
                </a:r>
              </a:p>
              <a:p>
                <a:pPr marL="803275" lvl="1" indent="-346075"/>
                <a:endParaRPr lang="es-MX" sz="500" dirty="0"/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/>
                  <a:t>: componente aleatorio (ruido). Representa:</a:t>
                </a:r>
              </a:p>
              <a:p>
                <a:pPr marL="4033838" lvl="8" indent="-203200" algn="just">
                  <a:buFont typeface="Arial" panose="020B0604020202020204" pitchFamily="34" charset="0"/>
                  <a:buChar char="•"/>
                </a:pPr>
                <a:r>
                  <a:rPr lang="es-MX" dirty="0"/>
                  <a:t>fluctuaciones impredecibles</a:t>
                </a:r>
              </a:p>
              <a:p>
                <a:pPr marL="4033838" lvl="8" indent="-203200" algn="just">
                  <a:buFont typeface="Arial" panose="020B0604020202020204" pitchFamily="34" charset="0"/>
                  <a:buChar char="•"/>
                </a:pPr>
                <a:r>
                  <a:rPr lang="es-MX" dirty="0"/>
                  <a:t>errores de medición</a:t>
                </a:r>
              </a:p>
              <a:p>
                <a:pPr marL="4033838" lvl="8" indent="-203200" algn="just">
                  <a:buFont typeface="Arial" panose="020B0604020202020204" pitchFamily="34" charset="0"/>
                  <a:buChar char="•"/>
                </a:pPr>
                <a:r>
                  <a:rPr lang="es-MX" dirty="0"/>
                  <a:t>shocks externos</a:t>
                </a:r>
              </a:p>
              <a:p>
                <a:pPr marL="4033838" lvl="8" indent="-203200" algn="just">
                  <a:buFont typeface="Arial" panose="020B0604020202020204" pitchFamily="34" charset="0"/>
                  <a:buChar char="•"/>
                </a:pPr>
                <a:r>
                  <a:rPr lang="es-MX" dirty="0"/>
                  <a:t>variabilidad no explicada por el modelo</a:t>
                </a:r>
                <a:endParaRPr lang="es-MX" dirty="0">
                  <a:latin typeface="+mj-lt"/>
                </a:endParaRPr>
              </a:p>
              <a:p>
                <a:pPr lvl="1" algn="just"/>
                <a:endParaRPr lang="es-MX" dirty="0">
                  <a:latin typeface="+mj-lt"/>
                </a:endParaRPr>
              </a:p>
              <a:p>
                <a:pPr lvl="1" algn="just"/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023E39D0-91C9-0B74-12A3-F32CC261C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  <a:blipFill>
                <a:blip r:embed="rId3"/>
                <a:stretch>
                  <a:fillRect l="-571" t="-6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>
            <a:extLst>
              <a:ext uri="{FF2B5EF4-FFF2-40B4-BE49-F238E27FC236}">
                <a16:creationId xmlns:a16="http://schemas.microsoft.com/office/drawing/2014/main" id="{748F6BB5-4255-7691-C576-75A233C94A23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518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F9D8E-3C1B-1886-77C6-DBFEFB111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3BFC3AAA-8416-98B3-E074-A747BA6C907E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51E93BB5-5AB1-69EB-A805-FE76A642A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7AB05EBA-B47B-023B-141A-80616F5CDB46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1A3C3F32-48C3-DDFC-87C5-925ECFA46D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0" lvl="1" algn="just"/>
                <a:r>
                  <a:rPr lang="es-MX" dirty="0">
                    <a:latin typeface="+mj-lt"/>
                  </a:rPr>
                  <a:t>Matemáticamente:</a:t>
                </a:r>
              </a:p>
              <a:p>
                <a:pPr marL="0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  <a:p>
                <a:pPr lvl="1" algn="just"/>
                <a:endParaRPr lang="es-MX" dirty="0">
                  <a:latin typeface="+mj-lt"/>
                </a:endParaRPr>
              </a:p>
              <a:p>
                <a:pPr marL="0" lvl="1" algn="just"/>
                <a:r>
                  <a:rPr lang="es-MX" dirty="0">
                    <a:latin typeface="+mj-lt"/>
                  </a:rPr>
                  <a:t>donde: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>
                    <a:latin typeface="+mj-lt"/>
                  </a:rPr>
                  <a:t>: valor observado de la serie en el tiempo 𝑡.</a:t>
                </a:r>
              </a:p>
              <a:p>
                <a:pPr lvl="1" algn="just"/>
                <a:endParaRPr lang="es-MX" sz="500" dirty="0">
                  <a:latin typeface="+mj-lt"/>
                </a:endParaRPr>
              </a:p>
              <a:p>
                <a:pPr marL="803275" lvl="1" indent="-346075"/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>
                    <a:latin typeface="+mj-lt"/>
                  </a:rPr>
                  <a:t>: componente sistemático (señal). Representa el comportamiento estructurado y explicable de la serie.</a:t>
                </a:r>
              </a:p>
              <a:p>
                <a:pPr marL="803275" lvl="1" indent="-346075"/>
                <a:endParaRPr lang="es-MX" sz="500" dirty="0">
                  <a:latin typeface="+mj-lt"/>
                </a:endParaRP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/>
                  <a:t>: componente aleatorio (ruido). Representa:</a:t>
                </a:r>
              </a:p>
              <a:p>
                <a:pPr marL="4033838" lvl="8" indent="-203200" algn="just">
                  <a:buFont typeface="Arial" panose="020B0604020202020204" pitchFamily="34" charset="0"/>
                  <a:buChar char="•"/>
                </a:pPr>
                <a:r>
                  <a:rPr lang="es-MX" dirty="0">
                    <a:latin typeface="+mj-lt"/>
                  </a:rPr>
                  <a:t>fluctuaciones impredecibles</a:t>
                </a:r>
              </a:p>
              <a:p>
                <a:pPr marL="4033838" lvl="8" indent="-203200" algn="just">
                  <a:buFont typeface="Arial" panose="020B0604020202020204" pitchFamily="34" charset="0"/>
                  <a:buChar char="•"/>
                </a:pPr>
                <a:r>
                  <a:rPr lang="es-MX" dirty="0">
                    <a:latin typeface="+mj-lt"/>
                  </a:rPr>
                  <a:t>errores de medición</a:t>
                </a:r>
              </a:p>
              <a:p>
                <a:pPr marL="4033838" lvl="8" indent="-203200" algn="just">
                  <a:buFont typeface="Arial" panose="020B0604020202020204" pitchFamily="34" charset="0"/>
                  <a:buChar char="•"/>
                </a:pPr>
                <a:r>
                  <a:rPr lang="es-MX" dirty="0">
                    <a:latin typeface="+mj-lt"/>
                  </a:rPr>
                  <a:t>shocks externos</a:t>
                </a:r>
              </a:p>
              <a:p>
                <a:pPr marL="4033838" lvl="8" indent="-203200" algn="just">
                  <a:buFont typeface="Arial" panose="020B0604020202020204" pitchFamily="34" charset="0"/>
                  <a:buChar char="•"/>
                </a:pPr>
                <a:r>
                  <a:rPr lang="es-MX" dirty="0">
                    <a:latin typeface="+mj-lt"/>
                  </a:rPr>
                  <a:t>variabilidad no explicada por el modelo</a:t>
                </a:r>
              </a:p>
              <a:p>
                <a:pPr lvl="1" algn="just"/>
                <a:endParaRPr lang="es-MX" dirty="0">
                  <a:latin typeface="+mj-lt"/>
                </a:endParaRPr>
              </a:p>
              <a:p>
                <a:pPr lvl="1" algn="just"/>
                <a:endParaRPr lang="es-MX" sz="1500" dirty="0">
                  <a:latin typeface="+mj-lt"/>
                </a:endParaRPr>
              </a:p>
              <a:p>
                <a:pPr marL="0" lvl="1" algn="just"/>
                <a:r>
                  <a:rPr lang="es-MX" dirty="0">
                    <a:latin typeface="+mj-lt"/>
                  </a:rPr>
                  <a:t>Los métodos de suavizado buscan estimar:</a:t>
                </a:r>
              </a:p>
              <a:p>
                <a:pPr marL="0" lvl="1" algn="just"/>
                <a:endParaRPr lang="es-MX" sz="500" dirty="0">
                  <a:latin typeface="+mj-lt"/>
                </a:endParaRPr>
              </a:p>
              <a:p>
                <a:pPr marL="0" lvl="1"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  <a:p>
                <a:pPr marL="0" lvl="1" algn="just"/>
                <a:endParaRPr lang="es-MX" sz="500" dirty="0">
                  <a:latin typeface="+mj-lt"/>
                </a:endParaRPr>
              </a:p>
              <a:p>
                <a:pPr lvl="1" algn="just"/>
                <a:r>
                  <a:rPr lang="es-MX" dirty="0">
                    <a:latin typeface="+mj-lt"/>
                  </a:rPr>
                  <a:t>ignorando deliberadamente el ruido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>
                    <a:latin typeface="+mj-lt"/>
                  </a:rPr>
                  <a:t>.</a:t>
                </a:r>
              </a:p>
            </p:txBody>
          </p:sp>
        </mc:Choice>
        <mc:Fallback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1A3C3F32-48C3-DDFC-87C5-925ECFA46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  <a:blipFill>
                <a:blip r:embed="rId3"/>
                <a:stretch>
                  <a:fillRect l="-571" t="-609" b="-219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>
            <a:extLst>
              <a:ext uri="{FF2B5EF4-FFF2-40B4-BE49-F238E27FC236}">
                <a16:creationId xmlns:a16="http://schemas.microsoft.com/office/drawing/2014/main" id="{354DEC51-2FF6-D151-E764-CEC94C340341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59D77FF-CA46-DB9B-7493-8E26C62C62BB}"/>
                  </a:ext>
                </a:extLst>
              </p:cNvPr>
              <p:cNvSpPr txBox="1"/>
              <p:nvPr/>
            </p:nvSpPr>
            <p:spPr>
              <a:xfrm>
                <a:off x="5745279" y="4852112"/>
                <a:ext cx="3113001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sz="1600" dirty="0"/>
                  <a:t>: Valor real observado.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r>
                  <a:rPr lang="es-MX" sz="1600" dirty="0"/>
                  <a:t>: Valor estimado (suavizado)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sz="1600" dirty="0"/>
                  <a:t>: Señal o nivel subyacente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sz="1600" dirty="0"/>
                  <a:t>: Ruido aleatorio</a:t>
                </a: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D59D77FF-CA46-DB9B-7493-8E26C62C6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279" y="4852112"/>
                <a:ext cx="3113001" cy="1077218"/>
              </a:xfrm>
              <a:prstGeom prst="rect">
                <a:avLst/>
              </a:prstGeom>
              <a:blipFill>
                <a:blip r:embed="rId4"/>
                <a:stretch>
                  <a:fillRect l="-783" t="-1695" b="-621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0602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3DA76-B338-7CAA-D63C-2D02C3F8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1B2B7275-A9B3-3F92-D773-3C1685510424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8F1EAEC5-48E4-17AC-2D77-8EAB036D2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D7373FA8-4C70-027D-5918-045494AC0E63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93A7E60D-D987-E9BF-D5DA-167506A481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0" lvl="1" algn="just"/>
                <a:r>
                  <a:rPr lang="es-MX" dirty="0">
                    <a:latin typeface="+mj-lt"/>
                  </a:rPr>
                  <a:t>Matemáticamente:</a:t>
                </a:r>
              </a:p>
              <a:p>
                <a:pPr marL="0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  <a:p>
                <a:pPr lvl="1" algn="just"/>
                <a:endParaRPr lang="es-MX" dirty="0">
                  <a:latin typeface="+mj-lt"/>
                </a:endParaRPr>
              </a:p>
              <a:p>
                <a:pPr marL="0" lvl="1" algn="just"/>
                <a:r>
                  <a:rPr lang="es-MX" dirty="0"/>
                  <a:t>donde: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/>
                  <a:t>: valor observado de la serie en el tiempo 𝑡.</a:t>
                </a:r>
              </a:p>
              <a:p>
                <a:pPr lvl="1" algn="just"/>
                <a:endParaRPr lang="es-MX" sz="500" dirty="0"/>
              </a:p>
              <a:p>
                <a:pPr marL="803275" lvl="1" indent="-346075"/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/>
                  <a:t>: componente sistemático (señal). Representa el comportamiento estructurado y explicable de la serie.</a:t>
                </a:r>
              </a:p>
              <a:p>
                <a:pPr marL="803275" lvl="1" indent="-346075"/>
                <a:endParaRPr lang="es-MX" sz="500" dirty="0"/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/>
                  <a:t>: componente aleatorio (ruido). Representa:</a:t>
                </a:r>
              </a:p>
              <a:p>
                <a:pPr marL="4033838" lvl="8" indent="-203200" algn="just">
                  <a:buFont typeface="Arial" panose="020B0604020202020204" pitchFamily="34" charset="0"/>
                  <a:buChar char="•"/>
                </a:pPr>
                <a:r>
                  <a:rPr lang="es-MX" dirty="0"/>
                  <a:t>fluctuaciones impredecibles</a:t>
                </a:r>
              </a:p>
              <a:p>
                <a:pPr marL="4033838" lvl="8" indent="-203200" algn="just">
                  <a:buFont typeface="Arial" panose="020B0604020202020204" pitchFamily="34" charset="0"/>
                  <a:buChar char="•"/>
                </a:pPr>
                <a:r>
                  <a:rPr lang="es-MX" dirty="0"/>
                  <a:t>errores de medición</a:t>
                </a:r>
              </a:p>
              <a:p>
                <a:pPr marL="4033838" lvl="8" indent="-203200" algn="just">
                  <a:buFont typeface="Arial" panose="020B0604020202020204" pitchFamily="34" charset="0"/>
                  <a:buChar char="•"/>
                </a:pPr>
                <a:r>
                  <a:rPr lang="es-MX" dirty="0"/>
                  <a:t>shocks externos</a:t>
                </a:r>
              </a:p>
              <a:p>
                <a:pPr marL="4033838" lvl="8" indent="-203200" algn="just">
                  <a:buFont typeface="Arial" panose="020B0604020202020204" pitchFamily="34" charset="0"/>
                  <a:buChar char="•"/>
                </a:pPr>
                <a:r>
                  <a:rPr lang="es-MX" dirty="0"/>
                  <a:t>variabilidad no explicada por el modelo</a:t>
                </a:r>
              </a:p>
              <a:p>
                <a:pPr lvl="1" algn="just"/>
                <a:endParaRPr lang="es-MX" dirty="0"/>
              </a:p>
              <a:p>
                <a:pPr lvl="1" algn="just"/>
                <a:endParaRPr lang="es-MX" sz="1500" dirty="0"/>
              </a:p>
              <a:p>
                <a:pPr marL="0" lvl="1" algn="just"/>
                <a:r>
                  <a:rPr lang="es-MX" dirty="0"/>
                  <a:t>Los métodos de suavizado buscan estimar:</a:t>
                </a:r>
              </a:p>
              <a:p>
                <a:pPr marL="0" lvl="1" algn="just"/>
                <a:endParaRPr lang="es-MX" sz="500" dirty="0"/>
              </a:p>
              <a:p>
                <a:pPr marL="0" lvl="1"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  <a:p>
                <a:pPr marL="0" lvl="1" algn="just"/>
                <a:endParaRPr lang="es-MX" sz="500" dirty="0"/>
              </a:p>
              <a:p>
                <a:pPr lvl="1" algn="just"/>
                <a:r>
                  <a:rPr lang="es-MX" dirty="0"/>
                  <a:t>ignorando deliberadamente el ruido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/>
                  <a:t>.</a:t>
                </a:r>
              </a:p>
            </p:txBody>
          </p:sp>
        </mc:Choice>
        <mc:Fallback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93A7E60D-D987-E9BF-D5DA-167506A48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  <a:blipFill>
                <a:blip r:embed="rId3"/>
                <a:stretch>
                  <a:fillRect l="-571" t="-609" b="-219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>
            <a:extLst>
              <a:ext uri="{FF2B5EF4-FFF2-40B4-BE49-F238E27FC236}">
                <a16:creationId xmlns:a16="http://schemas.microsoft.com/office/drawing/2014/main" id="{3E2B5A13-DDC7-36DA-2938-8FBC672ADB86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41F65D6-ACB5-CD4D-7991-7FC96839771C}"/>
              </a:ext>
            </a:extLst>
          </p:cNvPr>
          <p:cNvSpPr txBox="1"/>
          <p:nvPr/>
        </p:nvSpPr>
        <p:spPr>
          <a:xfrm>
            <a:off x="4995832" y="93937"/>
            <a:ext cx="4005324" cy="2031325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pPr marL="985838" indent="-985838"/>
            <a:r>
              <a:rPr lang="es-MX" b="1" i="1" dirty="0"/>
              <a:t>Suavizar</a:t>
            </a:r>
            <a:r>
              <a:rPr lang="es-MX" dirty="0"/>
              <a:t> = filtrar el ruido para recuperar la señal.</a:t>
            </a:r>
          </a:p>
          <a:p>
            <a:pPr marL="985838" indent="-985838"/>
            <a:endParaRPr lang="es-MX" dirty="0"/>
          </a:p>
          <a:p>
            <a:pPr marL="985838" indent="-985838"/>
            <a:r>
              <a:rPr lang="es-MX" b="1" i="1" dirty="0"/>
              <a:t>Objetivo</a:t>
            </a:r>
            <a:r>
              <a:rPr lang="es-MX" dirty="0"/>
              <a:t> = entender el comportamiento de la serie y/o generar pronósticos de corto y mediano plazo.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2DB778A-4D67-BE5C-389A-9F0FDB9E0E5B}"/>
                  </a:ext>
                </a:extLst>
              </p:cNvPr>
              <p:cNvSpPr txBox="1"/>
              <p:nvPr/>
            </p:nvSpPr>
            <p:spPr>
              <a:xfrm>
                <a:off x="5745279" y="4852112"/>
                <a:ext cx="3113001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sz="1600" dirty="0"/>
                  <a:t>: Valor real observado.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r>
                  <a:rPr lang="es-MX" sz="1600" dirty="0"/>
                  <a:t>: Valor estimado (suavizado)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sz="1600" dirty="0"/>
                  <a:t>: Señal o nivel subyacente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sz="1600" dirty="0"/>
                  <a:t>: Ruido aleatorio</a:t>
                </a: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22DB778A-4D67-BE5C-389A-9F0FDB9E0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279" y="4852112"/>
                <a:ext cx="3113001" cy="1077218"/>
              </a:xfrm>
              <a:prstGeom prst="rect">
                <a:avLst/>
              </a:prstGeom>
              <a:blipFill>
                <a:blip r:embed="rId4"/>
                <a:stretch>
                  <a:fillRect l="-783" t="-1695" b="-621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409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D52BF-3636-0217-D70A-5083A8C30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1AB1036E-2D85-ACC2-4969-6F8309C9D23C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E45D1D2E-13DF-302C-3A5B-A83D7D693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368427DD-1967-6B13-07FB-703E2F2BB6EC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11582CA2-AD30-95C8-487E-506B6339B4AA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lvl="1" indent="-285750" algn="just">
              <a:buFont typeface="Wingdings" panose="05000000000000000000" pitchFamily="2" charset="2"/>
              <a:buChar char="q"/>
            </a:pPr>
            <a:r>
              <a:rPr lang="es-MX" dirty="0">
                <a:latin typeface="+mj-lt"/>
              </a:rPr>
              <a:t>Media móvil simple (SMA, </a:t>
            </a:r>
            <a:r>
              <a:rPr lang="es-MX" i="1" dirty="0">
                <a:latin typeface="+mj-lt"/>
              </a:rPr>
              <a:t>Simple </a:t>
            </a:r>
            <a:r>
              <a:rPr lang="es-MX" i="1" dirty="0" err="1">
                <a:latin typeface="+mj-lt"/>
              </a:rPr>
              <a:t>Moving</a:t>
            </a:r>
            <a:r>
              <a:rPr lang="es-MX" i="1" dirty="0">
                <a:latin typeface="+mj-lt"/>
              </a:rPr>
              <a:t> </a:t>
            </a:r>
            <a:r>
              <a:rPr lang="es-MX" i="1" dirty="0" err="1">
                <a:latin typeface="+mj-lt"/>
              </a:rPr>
              <a:t>Average</a:t>
            </a:r>
            <a:r>
              <a:rPr lang="es-MX" dirty="0">
                <a:latin typeface="+mj-lt"/>
              </a:rPr>
              <a:t>) </a:t>
            </a:r>
          </a:p>
          <a:p>
            <a:pPr marL="285750" lvl="1" indent="-285750" algn="just">
              <a:buFont typeface="Wingdings" panose="05000000000000000000" pitchFamily="2" charset="2"/>
              <a:buChar char="q"/>
            </a:pPr>
            <a:endParaRPr lang="es-MX" dirty="0">
              <a:latin typeface="+mj-lt"/>
            </a:endParaRPr>
          </a:p>
          <a:p>
            <a:pPr marL="285750" lvl="1" indent="-285750" algn="just">
              <a:buFont typeface="Wingdings" panose="05000000000000000000" pitchFamily="2" charset="2"/>
              <a:buChar char="q"/>
            </a:pPr>
            <a:r>
              <a:rPr lang="es-MX" dirty="0">
                <a:latin typeface="+mj-lt"/>
              </a:rPr>
              <a:t>Media móvil ponderada (WMA)</a:t>
            </a:r>
          </a:p>
          <a:p>
            <a:pPr marL="285750" lvl="1" indent="-285750" algn="just">
              <a:buFont typeface="Wingdings" panose="05000000000000000000" pitchFamily="2" charset="2"/>
              <a:buChar char="q"/>
            </a:pPr>
            <a:endParaRPr lang="es-MX" dirty="0">
              <a:latin typeface="+mj-lt"/>
            </a:endParaRPr>
          </a:p>
          <a:p>
            <a:pPr marL="285750" lvl="1" indent="-285750" algn="just">
              <a:buFont typeface="Wingdings" panose="05000000000000000000" pitchFamily="2" charset="2"/>
              <a:buChar char="q"/>
            </a:pPr>
            <a:r>
              <a:rPr lang="es-MX" dirty="0">
                <a:latin typeface="+mj-lt"/>
              </a:rPr>
              <a:t>Media móvil exponencial (EMA)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060E401-085C-1C1C-46FB-BC76D1DDFE86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932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AC7C1-9D6A-40FE-3CB6-30AFBA5FB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C0EA930B-124A-A4A8-124A-65062E0B8E1B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7B970F4A-79E5-1068-09F5-40C1C062D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43015C5E-6702-E6A0-064D-02738B602D4D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 (SMA)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DCF2C755-0BB5-49C0-6FC6-3D4EE56720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r>
                  <a:rPr lang="es-MX" b="1" dirty="0">
                    <a:latin typeface="+mj-lt"/>
                  </a:rPr>
                  <a:t>Media móvil simple (SMA, </a:t>
                </a:r>
                <a:r>
                  <a:rPr lang="es-MX" b="1" i="1" dirty="0">
                    <a:latin typeface="+mj-lt"/>
                  </a:rPr>
                  <a:t>Simple </a:t>
                </a:r>
                <a:r>
                  <a:rPr lang="es-MX" b="1" i="1" dirty="0" err="1">
                    <a:latin typeface="+mj-lt"/>
                  </a:rPr>
                  <a:t>Moving</a:t>
                </a:r>
                <a:r>
                  <a:rPr lang="es-MX" b="1" i="1" dirty="0">
                    <a:latin typeface="+mj-lt"/>
                  </a:rPr>
                  <a:t> </a:t>
                </a:r>
                <a:r>
                  <a:rPr lang="es-MX" b="1" i="1" dirty="0" err="1">
                    <a:latin typeface="+mj-lt"/>
                  </a:rPr>
                  <a:t>Average</a:t>
                </a:r>
                <a:r>
                  <a:rPr lang="es-MX" b="1" dirty="0">
                    <a:latin typeface="+mj-lt"/>
                  </a:rPr>
                  <a:t>)</a:t>
                </a: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r>
                  <a:rPr lang="es-MX" dirty="0">
                    <a:latin typeface="+mj-lt"/>
                  </a:rPr>
                  <a:t>Suaviza la serie reemplazando cada valor por el promedio aritmético de los últimos 𝑘 valores observados. </a:t>
                </a: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endParaRPr lang="es-MX" sz="500" dirty="0">
                  <a:latin typeface="+mj-lt"/>
                </a:endParaRP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r>
                  <a:rPr lang="es-MX" dirty="0">
                    <a:latin typeface="+mj-lt"/>
                  </a:rPr>
                  <a:t>Reduce el ruido de corto plazo, pero </a:t>
                </a:r>
                <a:r>
                  <a:rPr lang="es-MX" b="1" i="1" dirty="0">
                    <a:latin typeface="+mj-lt"/>
                  </a:rPr>
                  <a:t>todos los valores del pasado reciente pesan igual</a:t>
                </a:r>
                <a:r>
                  <a:rPr lang="es-MX" dirty="0">
                    <a:latin typeface="+mj-lt"/>
                  </a:rPr>
                  <a:t>, sin distinguir qué tan nuevos son.</a:t>
                </a:r>
              </a:p>
              <a:p>
                <a:pPr marL="457200" lvl="2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s-MX" i="0">
                              <a:latin typeface="Cambria Math" panose="02040503050406030204" pitchFamily="18" charset="0"/>
                            </a:rPr>
                            <m:t>SMA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MX" dirty="0">
                  <a:latin typeface="+mj-lt"/>
                </a:endParaRPr>
              </a:p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endParaRPr lang="es-MX" dirty="0">
                  <a:latin typeface="+mj-lt"/>
                </a:endParaRPr>
              </a:p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endParaRPr lang="es-MX" dirty="0">
                  <a:latin typeface="+mj-lt"/>
                </a:endParaRPr>
              </a:p>
              <a:p>
                <a:pPr marL="263525" lvl="1" algn="just"/>
                <a:r>
                  <a:rPr lang="es-MX" dirty="0"/>
                  <a:t>donde:</a:t>
                </a:r>
              </a:p>
              <a:p>
                <a:pPr marL="1006475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MX" dirty="0"/>
                  <a:t>: observaciones pasadas.</a:t>
                </a:r>
              </a:p>
              <a:p>
                <a:pPr marL="1006475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MX" dirty="0"/>
                  <a:t>: orden de la media móvil que determina el nivel de suavizado.</a:t>
                </a:r>
              </a:p>
              <a:p>
                <a:pPr marL="0" lvl="1" algn="just"/>
                <a:endParaRPr lang="es-MX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DCF2C755-0BB5-49C0-6FC6-3D4EE5672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  <a:blipFill>
                <a:blip r:embed="rId3"/>
                <a:stretch>
                  <a:fillRect l="-428" t="-609" r="-64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>
            <a:extLst>
              <a:ext uri="{FF2B5EF4-FFF2-40B4-BE49-F238E27FC236}">
                <a16:creationId xmlns:a16="http://schemas.microsoft.com/office/drawing/2014/main" id="{F64633C6-5F8F-F7DE-FB6F-86A6C6E3B444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012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B070F-8C4F-B19B-1BC9-DEFD37538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882ABD48-C31A-017F-9DA8-59C26002C848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E9327787-25F7-F48A-D9DE-FA277CF3E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0DB69030-529A-F68A-91C8-092F5161F48B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 (SMA)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BE0821E2-07A1-046E-3BAA-201E2181527F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dirty="0">
                <a:latin typeface="+mj-lt"/>
              </a:rPr>
              <a:t>Ejemplo:</a:t>
            </a:r>
          </a:p>
          <a:p>
            <a:pPr marL="285750" lvl="1" indent="-285750" algn="just">
              <a:buFont typeface="Wingdings" panose="05000000000000000000" pitchFamily="2" charset="2"/>
              <a:buChar char="q"/>
            </a:pPr>
            <a:endParaRPr lang="es-MX" dirty="0">
              <a:latin typeface="+mj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0BB14A5-2285-D21E-E843-DE6528EF8DE8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5E1296BD-E394-C5E1-ABD0-E02B4C5444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5625108"/>
                  </p:ext>
                </p:extLst>
              </p:nvPr>
            </p:nvGraphicFramePr>
            <p:xfrm>
              <a:off x="3373120" y="928670"/>
              <a:ext cx="5556600" cy="4961965"/>
            </p:xfrm>
            <a:graphic>
              <a:graphicData uri="http://schemas.openxmlformats.org/drawingml/2006/table">
                <a:tbl>
                  <a:tblPr/>
                  <a:tblGrid>
                    <a:gridCol w="1300480">
                      <a:extLst>
                        <a:ext uri="{9D8B030D-6E8A-4147-A177-3AD203B41FA5}">
                          <a16:colId xmlns:a16="http://schemas.microsoft.com/office/drawing/2014/main" val="2485914222"/>
                        </a:ext>
                      </a:extLst>
                    </a:gridCol>
                    <a:gridCol w="1300480">
                      <a:extLst>
                        <a:ext uri="{9D8B030D-6E8A-4147-A177-3AD203B41FA5}">
                          <a16:colId xmlns:a16="http://schemas.microsoft.com/office/drawing/2014/main" val="592628644"/>
                        </a:ext>
                      </a:extLst>
                    </a:gridCol>
                    <a:gridCol w="1566490">
                      <a:extLst>
                        <a:ext uri="{9D8B030D-6E8A-4147-A177-3AD203B41FA5}">
                          <a16:colId xmlns:a16="http://schemas.microsoft.com/office/drawing/2014/main" val="3885869040"/>
                        </a:ext>
                      </a:extLst>
                    </a:gridCol>
                    <a:gridCol w="1389150">
                      <a:extLst>
                        <a:ext uri="{9D8B030D-6E8A-4147-A177-3AD203B41FA5}">
                          <a16:colId xmlns:a16="http://schemas.microsoft.com/office/drawing/2014/main" val="2313508706"/>
                        </a:ext>
                      </a:extLst>
                    </a:gridCol>
                  </a:tblGrid>
                  <a:tr h="116423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Tiempo (</a:t>
                          </a:r>
                          <a14:m>
                            <m:oMath xmlns:m="http://schemas.openxmlformats.org/officeDocument/2006/math">
                              <m:r>
                                <a:rPr lang="es-MX" sz="1500" b="1" i="1" u="none" strike="noStrike" smtClean="0">
                                  <a:solidFill>
                                    <a:srgbClr val="FFFFFF"/>
                                  </a:solidFill>
                                  <a:effectLst/>
                                  <a:latin typeface="+mj-lt"/>
                                </a:rPr>
                                <m:t>𝒕</m:t>
                              </m:r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Dato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500" b="1" i="1" smtClean="0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 dirty="0" err="1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Cálcu</a:t>
                          </a:r>
                          <a:r>
                            <a:rPr lang="en-US" sz="15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</a:rPr>
                            <a:t>lo 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sz="15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</a:rPr>
                            <a:t> = 3</a:t>
                          </a:r>
                          <a:endParaRPr lang="en-US" sz="1500" b="1" i="0" u="none" strike="noStrike" dirty="0">
                            <a:solidFill>
                              <a:srgbClr val="FFFFFF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SMA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9147428"/>
                      </a:ext>
                    </a:extLst>
                  </a:tr>
                  <a:tr h="116423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-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2486345"/>
                      </a:ext>
                    </a:extLst>
                  </a:tr>
                  <a:tr h="116423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-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3735004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(13 + 12 + 10)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11.67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9320065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(16 + 13 + 12)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13.67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5721466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(15 + 16 + 13)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14.67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9045457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(20 + 15 + 16)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62798540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(22 + 20 + 15)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5163246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(21 + 22 + 20)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6638476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(23 + 21 + 22)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9177662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(25 + 23 + 21)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04725263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(26 + 25 + 23)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24.67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8770846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(28 + 26 + 25)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26.33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9031711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(30 + 28 + 26)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9921169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(29 + 30 + 28)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5036527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(31 + 29 + 30)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5622427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(33 + 31 + 29)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3160167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(35 + 33 + 31)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08863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(36 + 35 + 33)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34.67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06016102"/>
                      </a:ext>
                    </a:extLst>
                  </a:tr>
                  <a:tr h="23284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(38 + 36 + 35)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36.33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8934840"/>
                      </a:ext>
                    </a:extLst>
                  </a:tr>
                  <a:tr h="21829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(42 + 38 + 36)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38.67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454914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5E1296BD-E394-C5E1-ABD0-E02B4C5444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5625108"/>
                  </p:ext>
                </p:extLst>
              </p:nvPr>
            </p:nvGraphicFramePr>
            <p:xfrm>
              <a:off x="3373120" y="928670"/>
              <a:ext cx="5556600" cy="4961965"/>
            </p:xfrm>
            <a:graphic>
              <a:graphicData uri="http://schemas.openxmlformats.org/drawingml/2006/table">
                <a:tbl>
                  <a:tblPr/>
                  <a:tblGrid>
                    <a:gridCol w="1300480">
                      <a:extLst>
                        <a:ext uri="{9D8B030D-6E8A-4147-A177-3AD203B41FA5}">
                          <a16:colId xmlns:a16="http://schemas.microsoft.com/office/drawing/2014/main" val="2485914222"/>
                        </a:ext>
                      </a:extLst>
                    </a:gridCol>
                    <a:gridCol w="1300480">
                      <a:extLst>
                        <a:ext uri="{9D8B030D-6E8A-4147-A177-3AD203B41FA5}">
                          <a16:colId xmlns:a16="http://schemas.microsoft.com/office/drawing/2014/main" val="592628644"/>
                        </a:ext>
                      </a:extLst>
                    </a:gridCol>
                    <a:gridCol w="1566490">
                      <a:extLst>
                        <a:ext uri="{9D8B030D-6E8A-4147-A177-3AD203B41FA5}">
                          <a16:colId xmlns:a16="http://schemas.microsoft.com/office/drawing/2014/main" val="3885869040"/>
                        </a:ext>
                      </a:extLst>
                    </a:gridCol>
                    <a:gridCol w="1389150">
                      <a:extLst>
                        <a:ext uri="{9D8B030D-6E8A-4147-A177-3AD203B41FA5}">
                          <a16:colId xmlns:a16="http://schemas.microsoft.com/office/drawing/2014/main" val="2313508706"/>
                        </a:ext>
                      </a:extLst>
                    </a:gridCol>
                  </a:tblGrid>
                  <a:tr h="2431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9" t="-20000" r="-328638" b="-198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0000" r="-227103" b="-198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6537" t="-20000" r="-89105" b="-198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SMA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9147428"/>
                      </a:ext>
                    </a:extLst>
                  </a:tr>
                  <a:tr h="23345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-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2486345"/>
                      </a:ext>
                    </a:extLst>
                  </a:tr>
                  <a:tr h="23345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-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3735004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(13 + 12 + 10)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11.67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9320065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(16 + 13 + 12)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13.67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5721466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(15 + 16 + 13)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14.67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9045457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(20 + 15 + 16)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62798540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(22 + 20 + 15)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5163246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(21 + 22 + 20)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36638476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(23 + 21 + 22)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19177662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(25 + 23 + 21)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04725263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(26 + 25 + 23)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24.67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8770846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(28 + 26 + 25)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26.33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9031711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(30 + 28 + 26)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39921169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(29 + 30 + 28)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5036527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(31 + 29 + 30)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45622427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(33 + 31 + 29)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3160167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(35 + 33 + 31)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08863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(36 + 35 + 33)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34.67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06016102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(38 + 36 + 35)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36.33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18934840"/>
                      </a:ext>
                    </a:extLst>
                  </a:tr>
                  <a:tr h="23622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(42 + 38 + 36) / 3</a:t>
                          </a:r>
                        </a:p>
                      </a:txBody>
                      <a:tcPr marL="7620" marR="7620" marT="762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38.67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45491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4EAC00B-4B2B-64FF-9CF0-B86679500D6C}"/>
                  </a:ext>
                </a:extLst>
              </p:cNvPr>
              <p:cNvSpPr txBox="1"/>
              <p:nvPr/>
            </p:nvSpPr>
            <p:spPr>
              <a:xfrm>
                <a:off x="645462" y="1326200"/>
                <a:ext cx="2275840" cy="877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s-MX" i="0">
                              <a:latin typeface="Cambria Math" panose="02040503050406030204" pitchFamily="18" charset="0"/>
                            </a:rPr>
                            <m:t>SMA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4EAC00B-4B2B-64FF-9CF0-B86679500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62" y="1326200"/>
                <a:ext cx="2275840" cy="8771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769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F1AC4-8EAA-BD28-4B46-B9B9CA3F7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F7D2A8AA-463C-4A97-6DF9-2653E6102AF1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64953527-E3F8-BB46-89D3-209DEFEB4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6D2F0857-84A7-B920-6208-BFF654B9CF2C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 (WMA)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8D32B3F7-22D5-77D6-CCBE-24AE03A264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r>
                  <a:rPr lang="es-MX" b="1" dirty="0">
                    <a:latin typeface="+mj-lt"/>
                  </a:rPr>
                  <a:t>Media móvil ponderada (WMA, </a:t>
                </a:r>
                <a:r>
                  <a:rPr lang="es-MX" b="1" i="1" dirty="0" err="1">
                    <a:latin typeface="+mj-lt"/>
                  </a:rPr>
                  <a:t>Weighted</a:t>
                </a:r>
                <a:r>
                  <a:rPr lang="es-MX" b="1" i="1" dirty="0">
                    <a:latin typeface="+mj-lt"/>
                  </a:rPr>
                  <a:t> </a:t>
                </a:r>
                <a:r>
                  <a:rPr lang="es-MX" b="1" i="1" dirty="0" err="1">
                    <a:latin typeface="+mj-lt"/>
                  </a:rPr>
                  <a:t>Moving</a:t>
                </a:r>
                <a:r>
                  <a:rPr lang="es-MX" b="1" i="1" dirty="0">
                    <a:latin typeface="+mj-lt"/>
                  </a:rPr>
                  <a:t> </a:t>
                </a:r>
                <a:r>
                  <a:rPr lang="es-MX" b="1" i="1" dirty="0" err="1">
                    <a:latin typeface="+mj-lt"/>
                  </a:rPr>
                  <a:t>Average</a:t>
                </a:r>
                <a:r>
                  <a:rPr lang="es-MX" b="1" dirty="0">
                    <a:latin typeface="+mj-lt"/>
                  </a:rPr>
                  <a:t>)</a:t>
                </a: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r>
                  <a:rPr lang="es-MX" dirty="0">
                    <a:latin typeface="+mj-lt"/>
                  </a:rPr>
                  <a:t>Extensión de la media móvil simple en la que </a:t>
                </a:r>
                <a:r>
                  <a:rPr lang="es-MX" b="1" i="1" dirty="0">
                    <a:latin typeface="+mj-lt"/>
                  </a:rPr>
                  <a:t>no todos los datos tienen la misma importancia</a:t>
                </a:r>
                <a:r>
                  <a:rPr lang="es-MX" dirty="0">
                    <a:latin typeface="+mj-lt"/>
                  </a:rPr>
                  <a:t>.</a:t>
                </a: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endParaRPr lang="es-MX" sz="500" dirty="0">
                  <a:latin typeface="+mj-lt"/>
                </a:endParaRP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r>
                  <a:rPr lang="es-MX" dirty="0"/>
                  <a:t>En lugar de promediar de forma uniforme, se asignan </a:t>
                </a:r>
                <a:r>
                  <a:rPr lang="es-MX" b="1" i="1" dirty="0">
                    <a:latin typeface="+mj-lt"/>
                  </a:rPr>
                  <a:t>pesos diferentes</a:t>
                </a:r>
                <a:r>
                  <a:rPr lang="es-MX" dirty="0"/>
                  <a:t>, normalmente mayores a los valores más recientes (datos recientes contienen más información sobre el futuro).</a:t>
                </a:r>
                <a:endParaRPr lang="es-MX" dirty="0">
                  <a:latin typeface="+mj-lt"/>
                </a:endParaRPr>
              </a:p>
              <a:p>
                <a:pPr marL="2062163" lvl="2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s-MX" i="0">
                              <a:latin typeface="Cambria Math" panose="02040503050406030204" pitchFamily="18" charset="0"/>
                            </a:rPr>
                            <m:t>WMA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MX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endParaRPr lang="es-MX" dirty="0">
                  <a:latin typeface="+mj-lt"/>
                </a:endParaRPr>
              </a:p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endParaRPr lang="es-MX" dirty="0">
                  <a:latin typeface="+mj-lt"/>
                </a:endParaRPr>
              </a:p>
              <a:p>
                <a:pPr marL="263525" lvl="1" algn="just"/>
                <a:r>
                  <a:rPr lang="es-MX" dirty="0">
                    <a:latin typeface="+mj-lt"/>
                  </a:rPr>
                  <a:t>donde:</a:t>
                </a:r>
              </a:p>
              <a:p>
                <a:pPr marL="1006475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MX" dirty="0">
                    <a:latin typeface="+mj-lt"/>
                  </a:rPr>
                  <a:t>: observaciones pasadas.</a:t>
                </a:r>
              </a:p>
              <a:p>
                <a:pPr marL="1006475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MX" dirty="0">
                    <a:latin typeface="+mj-lt"/>
                  </a:rPr>
                  <a:t>: pesos.</a:t>
                </a:r>
              </a:p>
              <a:p>
                <a:pPr marL="1006475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 ···</m:t>
                    </m:r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s-MX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MX" b="0" i="1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s-MX" dirty="0">
                  <a:latin typeface="+mj-lt"/>
                </a:endParaRPr>
              </a:p>
              <a:p>
                <a:pPr marL="263525" lvl="1" algn="just"/>
                <a:endParaRPr lang="es-MX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8D32B3F7-22D5-77D6-CCBE-24AE03A26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  <a:blipFill>
                <a:blip r:embed="rId3"/>
                <a:stretch>
                  <a:fillRect l="-428" t="-609" r="-64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>
            <a:extLst>
              <a:ext uri="{FF2B5EF4-FFF2-40B4-BE49-F238E27FC236}">
                <a16:creationId xmlns:a16="http://schemas.microsoft.com/office/drawing/2014/main" id="{FF089CA8-2E45-DE95-5DC0-906657DDBC5F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F5022F8-0338-F0D7-C7A7-7F9527D9CA34}"/>
              </a:ext>
            </a:extLst>
          </p:cNvPr>
          <p:cNvSpPr txBox="1"/>
          <p:nvPr/>
        </p:nvSpPr>
        <p:spPr>
          <a:xfrm>
            <a:off x="4673600" y="2945798"/>
            <a:ext cx="57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BFE4B4B-AC61-17B2-F61A-ECC254696A7F}"/>
                  </a:ext>
                </a:extLst>
              </p:cNvPr>
              <p:cNvSpPr txBox="1"/>
              <p:nvPr/>
            </p:nvSpPr>
            <p:spPr>
              <a:xfrm>
                <a:off x="5385420" y="2769617"/>
                <a:ext cx="1402080" cy="763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BFE4B4B-AC61-17B2-F61A-ECC254696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420" y="2769617"/>
                <a:ext cx="1402080" cy="763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416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EB26-6BD0-EE7F-FA15-EA8D6321B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590A639E-A318-AA55-FCFA-5A3241686C5B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C52A30BB-F3E9-2430-E7FF-9D8CB1D6B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9AB6C082-2D8D-6D9B-064D-D27EF036A467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 (WMA)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8D965492-E118-EDC4-3F91-18EB05285E68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dirty="0">
                <a:latin typeface="+mj-lt"/>
              </a:rPr>
              <a:t>Ejemplo:</a:t>
            </a:r>
          </a:p>
          <a:p>
            <a:pPr marL="285750" lvl="1" indent="-285750" algn="just">
              <a:buFont typeface="Wingdings" panose="05000000000000000000" pitchFamily="2" charset="2"/>
              <a:buChar char="q"/>
            </a:pPr>
            <a:endParaRPr lang="es-MX" dirty="0">
              <a:latin typeface="+mj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750CFFF-EA1D-15E9-1321-40F718C90CCA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171530A2-CAF7-AA04-00AA-6277ED9D06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1656588"/>
                  </p:ext>
                </p:extLst>
              </p:nvPr>
            </p:nvGraphicFramePr>
            <p:xfrm>
              <a:off x="3046695" y="928670"/>
              <a:ext cx="5882642" cy="4927567"/>
            </p:xfrm>
            <a:graphic>
              <a:graphicData uri="http://schemas.openxmlformats.org/drawingml/2006/table">
                <a:tbl>
                  <a:tblPr/>
                  <a:tblGrid>
                    <a:gridCol w="1211707">
                      <a:extLst>
                        <a:ext uri="{9D8B030D-6E8A-4147-A177-3AD203B41FA5}">
                          <a16:colId xmlns:a16="http://schemas.microsoft.com/office/drawing/2014/main" val="24692684"/>
                        </a:ext>
                      </a:extLst>
                    </a:gridCol>
                    <a:gridCol w="1211707">
                      <a:extLst>
                        <a:ext uri="{9D8B030D-6E8A-4147-A177-3AD203B41FA5}">
                          <a16:colId xmlns:a16="http://schemas.microsoft.com/office/drawing/2014/main" val="3896373586"/>
                        </a:ext>
                      </a:extLst>
                    </a:gridCol>
                    <a:gridCol w="2247521">
                      <a:extLst>
                        <a:ext uri="{9D8B030D-6E8A-4147-A177-3AD203B41FA5}">
                          <a16:colId xmlns:a16="http://schemas.microsoft.com/office/drawing/2014/main" val="1469345969"/>
                        </a:ext>
                      </a:extLst>
                    </a:gridCol>
                    <a:gridCol w="1211707">
                      <a:extLst>
                        <a:ext uri="{9D8B030D-6E8A-4147-A177-3AD203B41FA5}">
                          <a16:colId xmlns:a16="http://schemas.microsoft.com/office/drawing/2014/main" val="2087353390"/>
                        </a:ext>
                      </a:extLst>
                    </a:gridCol>
                  </a:tblGrid>
                  <a:tr h="117177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Tiempo (</a:t>
                          </a:r>
                          <a14:m>
                            <m:oMath xmlns:m="http://schemas.openxmlformats.org/officeDocument/2006/math">
                              <m:r>
                                <a:rPr lang="es-MX" sz="1500" b="1" i="1" u="none" strike="noStrike" smtClean="0"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Dato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5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Cálcu</a:t>
                          </a:r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lo 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= 3</a:t>
                          </a:r>
                          <a:endParaRPr lang="en-US" sz="1500" b="1" i="0" u="none" strike="noStrike" kern="1200" dirty="0">
                            <a:solidFill>
                              <a:srgbClr val="FFFFFF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WMA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5199566"/>
                      </a:ext>
                    </a:extLst>
                  </a:tr>
                  <a:tr h="11717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-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-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2553361"/>
                      </a:ext>
                    </a:extLst>
                  </a:tr>
                  <a:tr h="11717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-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-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871433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0.5*13 + 0.3*12 + 0.2*10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12.1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709227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0.5*16 + 0.3*13 + 0.2*12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14.3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818367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0.5*15 + 0.3*16 + 0.2*13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14.9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459631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0.5*20 + 0.3*15 + 0.2*16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17.7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6437094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0.5*22 + 0.3*20 + 0.2*15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915851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0.5*21 + 0.3*22 + 0.2*20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21.1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7511982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0.5*23 + 0.3*21 + 0.2*22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22.2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93906082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0.5*25 + 0.3*23 + 0.2*21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4080501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0.5*26 + 0.3*25 + 0.2*23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25.1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967099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0.5*28 + 0.3*26 + 0.2*25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7122998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0.5*30 + 0.3*28 + 0.2*26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9892884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0.5*29 + 0.3*30 + 0.2*28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29.1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3675042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0.5*31 + 0.3*29 + 0.2*30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30.2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674254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0.5*33 + 0.3*31 + 0.2*29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655933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0.5*35 + 0.3*33 + 0.2*31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90363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0.5*36 + 0.3*35 + 0.2*33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35.1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0896358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0.5*38 + 0.3*36 + 0.2*35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36.8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5020439"/>
                      </a:ext>
                    </a:extLst>
                  </a:tr>
                  <a:tr h="190413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0.5*42 + 0.3*38 + 0.2*36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39.6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62227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a 2">
                <a:extLst>
                  <a:ext uri="{FF2B5EF4-FFF2-40B4-BE49-F238E27FC236}">
                    <a16:creationId xmlns:a16="http://schemas.microsoft.com/office/drawing/2014/main" id="{171530A2-CAF7-AA04-00AA-6277ED9D06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1656588"/>
                  </p:ext>
                </p:extLst>
              </p:nvPr>
            </p:nvGraphicFramePr>
            <p:xfrm>
              <a:off x="3046695" y="928670"/>
              <a:ext cx="5882642" cy="4927567"/>
            </p:xfrm>
            <a:graphic>
              <a:graphicData uri="http://schemas.openxmlformats.org/drawingml/2006/table">
                <a:tbl>
                  <a:tblPr/>
                  <a:tblGrid>
                    <a:gridCol w="1211707">
                      <a:extLst>
                        <a:ext uri="{9D8B030D-6E8A-4147-A177-3AD203B41FA5}">
                          <a16:colId xmlns:a16="http://schemas.microsoft.com/office/drawing/2014/main" val="24692684"/>
                        </a:ext>
                      </a:extLst>
                    </a:gridCol>
                    <a:gridCol w="1211707">
                      <a:extLst>
                        <a:ext uri="{9D8B030D-6E8A-4147-A177-3AD203B41FA5}">
                          <a16:colId xmlns:a16="http://schemas.microsoft.com/office/drawing/2014/main" val="3896373586"/>
                        </a:ext>
                      </a:extLst>
                    </a:gridCol>
                    <a:gridCol w="2247521">
                      <a:extLst>
                        <a:ext uri="{9D8B030D-6E8A-4147-A177-3AD203B41FA5}">
                          <a16:colId xmlns:a16="http://schemas.microsoft.com/office/drawing/2014/main" val="1469345969"/>
                        </a:ext>
                      </a:extLst>
                    </a:gridCol>
                    <a:gridCol w="1211707">
                      <a:extLst>
                        <a:ext uri="{9D8B030D-6E8A-4147-A177-3AD203B41FA5}">
                          <a16:colId xmlns:a16="http://schemas.microsoft.com/office/drawing/2014/main" val="2087353390"/>
                        </a:ext>
                      </a:extLst>
                    </a:gridCol>
                  </a:tblGrid>
                  <a:tr h="2431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000" r="-385930" b="-196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0000" r="-285930" b="-196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7859" t="-20000" r="-54201" b="-196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WMA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5199566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-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-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2553361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-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-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0871433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0.5*13 + 0.3*12 + 0.2*10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12.1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709227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0.5*16 + 0.3*13 + 0.2*12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14.3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818367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0.5*15 + 0.3*16 + 0.2*13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14.9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459631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0.5*20 + 0.3*15 + 0.2*16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17.7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6437094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0.5*22 + 0.3*20 + 0.2*15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0915851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0.5*21 + 0.3*22 + 0.2*20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21.1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7511982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0.5*23 + 0.3*21 + 0.2*22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22.2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93906082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0.5*25 + 0.3*23 + 0.2*21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4080501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0.5*26 + 0.3*25 + 0.2*23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25.1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2967099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0.5*28 + 0.3*26 + 0.2*25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7122998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0.5*30 + 0.3*28 + 0.2*26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9892884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0.5*29 + 0.3*30 + 0.2*28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29.1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3675042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0.5*31 + 0.3*29 + 0.2*30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30.2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674254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0.5*33 + 0.3*31 + 0.2*29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655933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0.5*35 + 0.3*33 + 0.2*31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90363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0.5*36 + 0.3*35 + 0.2*33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35.1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0896358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0.5*38 + 0.3*36 + 0.2*35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36.8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5020439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0.5*42 + 0.3*38 + 0.2*36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39.6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62227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176B7F6-9613-E9CD-07B5-4BD58CD9C055}"/>
                  </a:ext>
                </a:extLst>
              </p:cNvPr>
              <p:cNvSpPr txBox="1"/>
              <p:nvPr/>
            </p:nvSpPr>
            <p:spPr>
              <a:xfrm>
                <a:off x="479421" y="2712662"/>
                <a:ext cx="9753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MX" dirty="0"/>
                  <a:t> = 0.5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/>
                  <a:t>= 0.3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MX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/>
                  <a:t>= 0.2</a:t>
                </a:r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176B7F6-9613-E9CD-07B5-4BD58CD9C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21" y="2712662"/>
                <a:ext cx="975360" cy="923330"/>
              </a:xfrm>
              <a:prstGeom prst="rect">
                <a:avLst/>
              </a:prstGeom>
              <a:blipFill>
                <a:blip r:embed="rId4"/>
                <a:stretch>
                  <a:fillRect t="-3974" r="-3750" b="-993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67EEBD5-CDEB-EB6F-6205-135C08B741A9}"/>
                  </a:ext>
                </a:extLst>
              </p:cNvPr>
              <p:cNvSpPr txBox="1"/>
              <p:nvPr/>
            </p:nvSpPr>
            <p:spPr>
              <a:xfrm>
                <a:off x="214282" y="1326200"/>
                <a:ext cx="2672080" cy="877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s-MX" i="0">
                              <a:latin typeface="Cambria Math" panose="02040503050406030204" pitchFamily="18" charset="0"/>
                            </a:rPr>
                            <m:t>WMA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MX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MX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es-MX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67EEBD5-CDEB-EB6F-6205-135C08B74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82" y="1326200"/>
                <a:ext cx="2672080" cy="877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3C191A0-1D76-2685-FDBA-194046258582}"/>
                  </a:ext>
                </a:extLst>
              </p:cNvPr>
              <p:cNvSpPr txBox="1"/>
              <p:nvPr/>
            </p:nvSpPr>
            <p:spPr>
              <a:xfrm>
                <a:off x="1379857" y="4960948"/>
                <a:ext cx="1402080" cy="763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MX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s-MX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3C191A0-1D76-2685-FDBA-194046258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857" y="4960948"/>
                <a:ext cx="1402080" cy="763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19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60D95-800F-DDFC-5C96-A84BD649D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E595F7B8-E5FD-7B4F-FF52-F8B391A146B3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59606C32-69F4-8C7E-35AA-3A71D8670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5F986FB5-8F3C-118C-C071-101256157289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 (EMA)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B70E18AB-E55D-EE3F-4838-EF852646DC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r>
                  <a:rPr lang="es-MX" b="1" dirty="0">
                    <a:latin typeface="+mj-lt"/>
                  </a:rPr>
                  <a:t>Media móvil exponencial (EMA, </a:t>
                </a:r>
                <a:r>
                  <a:rPr lang="es-MX" b="1" i="1" dirty="0" err="1">
                    <a:latin typeface="+mj-lt"/>
                  </a:rPr>
                  <a:t>Exponential</a:t>
                </a:r>
                <a:r>
                  <a:rPr lang="es-MX" b="1" i="1" dirty="0">
                    <a:latin typeface="+mj-lt"/>
                  </a:rPr>
                  <a:t> </a:t>
                </a:r>
                <a:r>
                  <a:rPr lang="es-MX" b="1" i="1" dirty="0" err="1">
                    <a:latin typeface="+mj-lt"/>
                  </a:rPr>
                  <a:t>Moving</a:t>
                </a:r>
                <a:r>
                  <a:rPr lang="es-MX" b="1" i="1" dirty="0">
                    <a:latin typeface="+mj-lt"/>
                  </a:rPr>
                  <a:t> </a:t>
                </a:r>
                <a:r>
                  <a:rPr lang="es-MX" b="1" i="1" dirty="0" err="1">
                    <a:latin typeface="+mj-lt"/>
                  </a:rPr>
                  <a:t>Average</a:t>
                </a:r>
                <a:r>
                  <a:rPr lang="es-MX" b="1" dirty="0">
                    <a:latin typeface="+mj-lt"/>
                  </a:rPr>
                  <a:t>)</a:t>
                </a: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r>
                  <a:rPr lang="es-MX" dirty="0"/>
                  <a:t>Asigna pesos que decrecen exponencialmente conforme los datos son más antiguos.</a:t>
                </a:r>
                <a:endParaRPr lang="es-MX" sz="500" dirty="0">
                  <a:latin typeface="+mj-lt"/>
                </a:endParaRP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r>
                  <a:rPr lang="es-MX" dirty="0"/>
                  <a:t>Es la base del suavizamiento exponencial simple (SES). Todos los datos influyen, pero los más recientes pesan mucho más.</a:t>
                </a: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endParaRPr lang="es-MX" dirty="0">
                  <a:latin typeface="+mj-lt"/>
                </a:endParaRPr>
              </a:p>
              <a:p>
                <a:pPr marL="0" lvl="2"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  <a:p>
                <a:pPr marL="0" lvl="2" algn="just"/>
                <a:endParaRPr lang="es-MX" dirty="0">
                  <a:latin typeface="+mj-lt"/>
                </a:endParaRPr>
              </a:p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endParaRPr lang="es-MX" dirty="0">
                  <a:latin typeface="+mj-lt"/>
                </a:endParaRPr>
              </a:p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endParaRPr lang="es-MX" dirty="0">
                  <a:latin typeface="+mj-lt"/>
                </a:endParaRPr>
              </a:p>
              <a:p>
                <a:pPr marL="263525" lvl="1" algn="just"/>
                <a:r>
                  <a:rPr lang="es-MX" dirty="0">
                    <a:latin typeface="+mj-lt"/>
                  </a:rPr>
                  <a:t>donde:</a:t>
                </a:r>
              </a:p>
              <a:p>
                <a:pPr marL="1006475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0&lt;</m:t>
                    </m:r>
                    <m:r>
                      <a:rPr lang="fr-FR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MX" dirty="0">
                    <a:latin typeface="+mj-lt"/>
                  </a:rPr>
                  <a:t>: observaciones pasadas.</a:t>
                </a:r>
              </a:p>
              <a:p>
                <a:pPr marL="1006475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>
                    <a:latin typeface="+mj-lt"/>
                  </a:rPr>
                  <a:t>: valor suavizado.</a:t>
                </a:r>
              </a:p>
              <a:p>
                <a:pPr marL="1006475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>
                    <a:latin typeface="+mj-lt"/>
                  </a:rPr>
                  <a:t>: parámetro de suavizamiento.</a:t>
                </a:r>
              </a:p>
              <a:p>
                <a:pPr marL="263525" lvl="1" algn="just"/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B70E18AB-E55D-EE3F-4838-EF852646D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  <a:blipFill>
                <a:blip r:embed="rId3"/>
                <a:stretch>
                  <a:fillRect l="-428" t="-609" r="-64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>
            <a:extLst>
              <a:ext uri="{FF2B5EF4-FFF2-40B4-BE49-F238E27FC236}">
                <a16:creationId xmlns:a16="http://schemas.microsoft.com/office/drawing/2014/main" id="{4BFDFE97-A226-BAA6-26E8-0B4F91EE30DF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449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2172-3A77-6564-1C25-369D45274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A95FC120-5B27-B9F0-DC19-C9637FC5EE60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F2023DB3-8D39-4112-C839-DC57D2726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7C207FDA-0909-6868-5E9A-C23F1D3D7946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 (EMA)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2D0CBEB5-B4FE-60DC-A792-3B898B47E1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r>
                  <a:rPr lang="es-MX" b="1" dirty="0">
                    <a:latin typeface="+mj-lt"/>
                  </a:rPr>
                  <a:t>Media móvil exponencial (EMA, </a:t>
                </a:r>
                <a:r>
                  <a:rPr lang="es-MX" b="1" i="1" dirty="0" err="1">
                    <a:latin typeface="+mj-lt"/>
                  </a:rPr>
                  <a:t>Exponential</a:t>
                </a:r>
                <a:r>
                  <a:rPr lang="es-MX" b="1" i="1" dirty="0">
                    <a:latin typeface="+mj-lt"/>
                  </a:rPr>
                  <a:t> </a:t>
                </a:r>
                <a:r>
                  <a:rPr lang="es-MX" b="1" i="1" dirty="0" err="1">
                    <a:latin typeface="+mj-lt"/>
                  </a:rPr>
                  <a:t>Moving</a:t>
                </a:r>
                <a:r>
                  <a:rPr lang="es-MX" b="1" i="1" dirty="0">
                    <a:latin typeface="+mj-lt"/>
                  </a:rPr>
                  <a:t> </a:t>
                </a:r>
                <a:r>
                  <a:rPr lang="es-MX" b="1" i="1" dirty="0" err="1">
                    <a:latin typeface="+mj-lt"/>
                  </a:rPr>
                  <a:t>Average</a:t>
                </a:r>
                <a:r>
                  <a:rPr lang="es-MX" b="1" dirty="0">
                    <a:latin typeface="+mj-lt"/>
                  </a:rPr>
                  <a:t>)</a:t>
                </a: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r>
                  <a:rPr lang="es-MX" dirty="0"/>
                  <a:t>Asigna pesos que decrecen exponencialmente conforme los datos son más antiguos.</a:t>
                </a:r>
                <a:endParaRPr lang="es-MX" sz="500" dirty="0">
                  <a:latin typeface="+mj-lt"/>
                </a:endParaRP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r>
                  <a:rPr lang="es-MX" dirty="0"/>
                  <a:t>Es la base del suavizamiento exponencial simple (SES). Todos los datos influyen, pero los más recientes pesan mucho más.</a:t>
                </a: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endParaRPr lang="es-MX" dirty="0">
                  <a:latin typeface="+mj-lt"/>
                </a:endParaRPr>
              </a:p>
              <a:p>
                <a:pPr marL="0" lvl="2"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  <a:p>
                <a:pPr marL="0" lvl="2" algn="just"/>
                <a:endParaRPr lang="es-MX" dirty="0">
                  <a:latin typeface="+mj-lt"/>
                </a:endParaRPr>
              </a:p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endParaRPr lang="es-MX" dirty="0">
                  <a:latin typeface="+mj-lt"/>
                </a:endParaRPr>
              </a:p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endParaRPr lang="es-MX" dirty="0">
                  <a:latin typeface="+mj-lt"/>
                </a:endParaRPr>
              </a:p>
              <a:p>
                <a:pPr marL="263525" lvl="1" algn="just"/>
                <a:r>
                  <a:rPr lang="es-MX" dirty="0">
                    <a:latin typeface="+mj-lt"/>
                  </a:rPr>
                  <a:t>donde:</a:t>
                </a:r>
              </a:p>
              <a:p>
                <a:pPr marL="1006475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0&lt;</m:t>
                    </m:r>
                    <m:r>
                      <a:rPr lang="fr-FR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MX" dirty="0">
                    <a:latin typeface="+mj-lt"/>
                  </a:rPr>
                  <a:t>: observaciones pasadas.</a:t>
                </a:r>
              </a:p>
              <a:p>
                <a:pPr marL="1006475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>
                    <a:latin typeface="+mj-lt"/>
                  </a:rPr>
                  <a:t>: valor suavizado.</a:t>
                </a:r>
              </a:p>
              <a:p>
                <a:pPr marL="1006475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>
                    <a:latin typeface="+mj-lt"/>
                  </a:rPr>
                  <a:t>: parámetro de suavizamiento.</a:t>
                </a:r>
              </a:p>
              <a:p>
                <a:pPr marL="263525" lvl="1" algn="just"/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2D0CBEB5-B4FE-60DC-A792-3B898B47E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  <a:blipFill>
                <a:blip r:embed="rId3"/>
                <a:stretch>
                  <a:fillRect l="-428" t="-609" r="-64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>
            <a:extLst>
              <a:ext uri="{FF2B5EF4-FFF2-40B4-BE49-F238E27FC236}">
                <a16:creationId xmlns:a16="http://schemas.microsoft.com/office/drawing/2014/main" id="{C3E5BA84-D719-5FA3-BB2F-3A58BE7BF7AC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20EB84E-6AC7-3BEC-70B7-B82F44F5E886}"/>
              </a:ext>
            </a:extLst>
          </p:cNvPr>
          <p:cNvSpPr txBox="1"/>
          <p:nvPr/>
        </p:nvSpPr>
        <p:spPr>
          <a:xfrm>
            <a:off x="5145752" y="278603"/>
            <a:ext cx="3677920" cy="2862322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r>
              <a:rPr lang="es-MX" b="1" dirty="0"/>
              <a:t>α cercano a 0 (ej. 0.1)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pasado pesa mucho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modelo es muy suave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cambia lentamente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reacciona tarde a cambios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/>
              <a:t>Útil cuando: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la serie es estable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hay poco ruido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no hay cambios bruscos</a:t>
            </a:r>
          </a:p>
        </p:txBody>
      </p:sp>
    </p:spTree>
    <p:extLst>
      <p:ext uri="{BB962C8B-B14F-4D97-AF65-F5344CB8AC3E}">
        <p14:creationId xmlns:p14="http://schemas.microsoft.com/office/powerpoint/2010/main" val="2326368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E0E1F-880D-83AF-46C4-82E20725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74E6F499-B3EB-DBBE-DC73-1C598255575D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02659D6B-8462-06A3-3E12-34F664BE9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F7E128C5-B32A-273A-C28B-92CDA697C70C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 (EMA)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5F0CFB88-4F36-8003-D879-AC2E6AEF24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r>
                  <a:rPr lang="es-MX" b="1" dirty="0">
                    <a:latin typeface="+mj-lt"/>
                  </a:rPr>
                  <a:t>Media móvil exponencial (EMA, </a:t>
                </a:r>
                <a:r>
                  <a:rPr lang="es-MX" b="1" i="1" dirty="0" err="1">
                    <a:latin typeface="+mj-lt"/>
                  </a:rPr>
                  <a:t>Exponential</a:t>
                </a:r>
                <a:r>
                  <a:rPr lang="es-MX" b="1" i="1" dirty="0">
                    <a:latin typeface="+mj-lt"/>
                  </a:rPr>
                  <a:t> </a:t>
                </a:r>
                <a:r>
                  <a:rPr lang="es-MX" b="1" i="1" dirty="0" err="1">
                    <a:latin typeface="+mj-lt"/>
                  </a:rPr>
                  <a:t>Moving</a:t>
                </a:r>
                <a:r>
                  <a:rPr lang="es-MX" b="1" i="1" dirty="0">
                    <a:latin typeface="+mj-lt"/>
                  </a:rPr>
                  <a:t> </a:t>
                </a:r>
                <a:r>
                  <a:rPr lang="es-MX" b="1" i="1" dirty="0" err="1">
                    <a:latin typeface="+mj-lt"/>
                  </a:rPr>
                  <a:t>Average</a:t>
                </a:r>
                <a:r>
                  <a:rPr lang="es-MX" b="1" dirty="0">
                    <a:latin typeface="+mj-lt"/>
                  </a:rPr>
                  <a:t>)</a:t>
                </a: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r>
                  <a:rPr lang="es-MX" dirty="0"/>
                  <a:t>Asigna pesos que decrecen exponencialmente conforme los datos son más antiguos.</a:t>
                </a:r>
                <a:endParaRPr lang="es-MX" sz="500" dirty="0">
                  <a:latin typeface="+mj-lt"/>
                </a:endParaRP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r>
                  <a:rPr lang="es-MX" dirty="0"/>
                  <a:t>Es la base del suavizamiento exponencial simple (SES). Todos los datos influyen, pero los más recientes pesan mucho más.</a:t>
                </a:r>
              </a:p>
              <a:p>
                <a:pPr marL="742950" lvl="2" indent="-285750" algn="just">
                  <a:buFont typeface="Cambria Math" panose="02040503050406030204" pitchFamily="18" charset="0"/>
                  <a:buChar char="⎼"/>
                </a:pPr>
                <a:endParaRPr lang="es-MX" dirty="0">
                  <a:latin typeface="+mj-lt"/>
                </a:endParaRPr>
              </a:p>
              <a:p>
                <a:pPr marL="0" lvl="2"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  <a:p>
                <a:pPr marL="0" lvl="2" algn="just"/>
                <a:endParaRPr lang="es-MX" dirty="0">
                  <a:latin typeface="+mj-lt"/>
                </a:endParaRPr>
              </a:p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endParaRPr lang="es-MX" dirty="0">
                  <a:latin typeface="+mj-lt"/>
                </a:endParaRPr>
              </a:p>
              <a:p>
                <a:pPr marL="285750" lvl="1" indent="-285750" algn="just">
                  <a:buFont typeface="Wingdings" panose="05000000000000000000" pitchFamily="2" charset="2"/>
                  <a:buChar char="q"/>
                </a:pPr>
                <a:endParaRPr lang="es-MX" dirty="0">
                  <a:latin typeface="+mj-lt"/>
                </a:endParaRPr>
              </a:p>
              <a:p>
                <a:pPr marL="263525" lvl="1" algn="just"/>
                <a:r>
                  <a:rPr lang="es-MX" dirty="0">
                    <a:latin typeface="+mj-lt"/>
                  </a:rPr>
                  <a:t>donde:</a:t>
                </a:r>
              </a:p>
              <a:p>
                <a:pPr marL="1006475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</a:rPr>
                      <m:t>0&lt;</m:t>
                    </m:r>
                    <m:r>
                      <a:rPr lang="fr-FR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MX" dirty="0">
                    <a:latin typeface="+mj-lt"/>
                  </a:rPr>
                  <a:t>: observaciones pasadas.</a:t>
                </a:r>
              </a:p>
              <a:p>
                <a:pPr marL="1006475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>
                    <a:latin typeface="+mj-lt"/>
                  </a:rPr>
                  <a:t>: valor suavizado.</a:t>
                </a:r>
              </a:p>
              <a:p>
                <a:pPr marL="1006475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dirty="0">
                    <a:latin typeface="+mj-lt"/>
                  </a:rPr>
                  <a:t>: parámetro de suavizamiento.</a:t>
                </a:r>
              </a:p>
              <a:p>
                <a:pPr marL="263525" lvl="1" algn="just"/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7" name="2 Marcador de contenido">
                <a:extLst>
                  <a:ext uri="{FF2B5EF4-FFF2-40B4-BE49-F238E27FC236}">
                    <a16:creationId xmlns:a16="http://schemas.microsoft.com/office/drawing/2014/main" id="{5F0CFB88-4F36-8003-D879-AC2E6AEF2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88" y="928670"/>
                <a:ext cx="8539192" cy="5000660"/>
              </a:xfrm>
              <a:prstGeom prst="rect">
                <a:avLst/>
              </a:prstGeom>
              <a:blipFill>
                <a:blip r:embed="rId3"/>
                <a:stretch>
                  <a:fillRect l="-428" t="-609" r="-64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>
            <a:extLst>
              <a:ext uri="{FF2B5EF4-FFF2-40B4-BE49-F238E27FC236}">
                <a16:creationId xmlns:a16="http://schemas.microsoft.com/office/drawing/2014/main" id="{08D7DA36-A08A-8C2B-1FF2-E4F5F8A0A33E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59FC5BF-6742-495B-5515-100739045F37}"/>
              </a:ext>
            </a:extLst>
          </p:cNvPr>
          <p:cNvSpPr txBox="1"/>
          <p:nvPr/>
        </p:nvSpPr>
        <p:spPr>
          <a:xfrm>
            <a:off x="5145752" y="278603"/>
            <a:ext cx="3677920" cy="2862322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r>
              <a:rPr lang="es-MX" b="1" dirty="0"/>
              <a:t>α cercano a 0 (ej. 0.1)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pasado pesa mucho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modelo es muy suave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cambia lentamente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reacciona tarde a cambios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/>
              <a:t>Útil cuando: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la serie es estable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hay poco ruido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no hay cambios bruscos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0439D90-1557-B6E8-6184-0BCB930E8515}"/>
              </a:ext>
            </a:extLst>
          </p:cNvPr>
          <p:cNvSpPr txBox="1"/>
          <p:nvPr/>
        </p:nvSpPr>
        <p:spPr>
          <a:xfrm>
            <a:off x="5145752" y="3429000"/>
            <a:ext cx="3677920" cy="2862322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r>
              <a:rPr lang="es-MX" b="1" dirty="0"/>
              <a:t>α cercano a 1 (ej. 0.8)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dato actual pesa mucho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reacciona rápido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sigue cambios abruptos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es más ruidoso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r>
              <a:rPr lang="es-MX" dirty="0"/>
              <a:t>Útil cuando: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la serie cambia rápido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hay choques o rupturas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 requiere reacción inmediata</a:t>
            </a:r>
          </a:p>
        </p:txBody>
      </p:sp>
    </p:spTree>
    <p:extLst>
      <p:ext uri="{BB962C8B-B14F-4D97-AF65-F5344CB8AC3E}">
        <p14:creationId xmlns:p14="http://schemas.microsoft.com/office/powerpoint/2010/main" val="3052744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8E523-216D-202A-AF71-AC8479729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8BF6B068-F418-CBE5-FAC0-0A1DF0C4032F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80532ECA-2B52-BE0C-31AC-8746049EF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0F6315B3-50F7-894B-E3D7-8DB7D00429D6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 (EMA)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3F4AAB7D-F437-5EDD-1EF8-FA7BE15C53C9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dirty="0">
                <a:latin typeface="+mj-lt"/>
              </a:rPr>
              <a:t>Ejemplo:</a:t>
            </a:r>
          </a:p>
          <a:p>
            <a:pPr marL="285750" lvl="1" indent="-285750" algn="just">
              <a:buFont typeface="Wingdings" panose="05000000000000000000" pitchFamily="2" charset="2"/>
              <a:buChar char="q"/>
            </a:pPr>
            <a:endParaRPr lang="es-MX" dirty="0">
              <a:latin typeface="+mj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CAED72B-7D94-AA67-CD33-1F19B458BBD9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FA0D987B-FDB7-BD5C-6BDC-42C63ADE28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1944399"/>
                  </p:ext>
                </p:extLst>
              </p:nvPr>
            </p:nvGraphicFramePr>
            <p:xfrm>
              <a:off x="3487942" y="970027"/>
              <a:ext cx="5441776" cy="4917946"/>
            </p:xfrm>
            <a:graphic>
              <a:graphicData uri="http://schemas.openxmlformats.org/drawingml/2006/table">
                <a:tbl>
                  <a:tblPr/>
                  <a:tblGrid>
                    <a:gridCol w="1187993">
                      <a:extLst>
                        <a:ext uri="{9D8B030D-6E8A-4147-A177-3AD203B41FA5}">
                          <a16:colId xmlns:a16="http://schemas.microsoft.com/office/drawing/2014/main" val="525705323"/>
                        </a:ext>
                      </a:extLst>
                    </a:gridCol>
                    <a:gridCol w="1187993">
                      <a:extLst>
                        <a:ext uri="{9D8B030D-6E8A-4147-A177-3AD203B41FA5}">
                          <a16:colId xmlns:a16="http://schemas.microsoft.com/office/drawing/2014/main" val="2064554597"/>
                        </a:ext>
                      </a:extLst>
                    </a:gridCol>
                    <a:gridCol w="2337665">
                      <a:extLst>
                        <a:ext uri="{9D8B030D-6E8A-4147-A177-3AD203B41FA5}">
                          <a16:colId xmlns:a16="http://schemas.microsoft.com/office/drawing/2014/main" val="2687049354"/>
                        </a:ext>
                      </a:extLst>
                    </a:gridCol>
                    <a:gridCol w="728125">
                      <a:extLst>
                        <a:ext uri="{9D8B030D-6E8A-4147-A177-3AD203B41FA5}">
                          <a16:colId xmlns:a16="http://schemas.microsoft.com/office/drawing/2014/main" val="3934025367"/>
                        </a:ext>
                      </a:extLst>
                    </a:gridCol>
                  </a:tblGrid>
                  <a:tr h="117177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Tiempo (</a:t>
                          </a:r>
                          <a14:m>
                            <m:oMath xmlns:m="http://schemas.openxmlformats.org/officeDocument/2006/math">
                              <m:r>
                                <a:rPr lang="es-MX" sz="1500" b="1" i="1" u="none" strike="noStrike" smtClean="0">
                                  <a:solidFill>
                                    <a:srgbClr val="FFFFFF"/>
                                  </a:solidFill>
                                  <a:effectLst/>
                                  <a:latin typeface="+mj-lt"/>
                                </a:rPr>
                                <m:t>𝒕</m:t>
                              </m:r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Dato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500" b="1" i="1" smtClean="0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Cálcu</a:t>
                          </a:r>
                          <a:r>
                            <a:rPr lang="en-US" sz="1500" b="1" i="0" u="none" strike="noStrike" kern="1200" dirty="0" err="1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lo</a:t>
                          </a:r>
                          <a14:m>
                            <m:oMath xmlns:m="http://schemas.openxmlformats.org/officeDocument/2006/math">
                              <m:r>
                                <a:rPr lang="es-MX" sz="1500" b="1" i="0" smtClean="0">
                                  <a:solidFill>
                                    <a:schemeClr val="bg1"/>
                                  </a:solidFill>
                                  <a:latin typeface="+mj-lt"/>
                                </a:rPr>
                                <m:t> </m:t>
                              </m:r>
                              <m:r>
                                <a:rPr lang="fr-FR" sz="1500" b="1" i="1" smtClean="0">
                                  <a:solidFill>
                                    <a:schemeClr val="bg1"/>
                                  </a:solidFill>
                                  <a:latin typeface="+mj-lt"/>
                                </a:rPr>
                                <m:t>𝜶</m:t>
                              </m:r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 = 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EMA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175892"/>
                      </a:ext>
                    </a:extLst>
                  </a:tr>
                  <a:tr h="11717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Inicial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5541025"/>
                      </a:ext>
                    </a:extLst>
                  </a:tr>
                  <a:tr h="11717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0.3*12 + 0.7*10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870697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0.3*13 + 0.7*10.6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164634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0.3*16 + 0.7*11.32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538504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0.3*15 + 0.7*12.72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13.4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1577028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0.3*20 + 0.7*13.41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15.39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0773674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0.3*22 + 0.7*15.38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414532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0.3*21 + 0.7*17.37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101933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0.3*23 + 0.7*18.46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10334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0.3*25 + 0.7*19.82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306016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0.3*26 + 0.7*21.37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3095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0.3*28 + 0.7*22.76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224456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0.3*30 + 0.7*24.33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92364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0.3*29 + 0.7*26.03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824374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0.3*31 + 0.7*26.92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28.14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884060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0.3*33 + 0.7*28.15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29.61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7285056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0.3*35 + 0.7*29.6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807123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0.3*36 + 0.7*31.22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32.65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532252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0.3*38 + 0.7*32.66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963373"/>
                      </a:ext>
                    </a:extLst>
                  </a:tr>
                  <a:tr h="190413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0.3*42 + 0.7*34.26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36.58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27791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FA0D987B-FDB7-BD5C-6BDC-42C63ADE28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1944399"/>
                  </p:ext>
                </p:extLst>
              </p:nvPr>
            </p:nvGraphicFramePr>
            <p:xfrm>
              <a:off x="3487942" y="970027"/>
              <a:ext cx="5441776" cy="4917946"/>
            </p:xfrm>
            <a:graphic>
              <a:graphicData uri="http://schemas.openxmlformats.org/drawingml/2006/table">
                <a:tbl>
                  <a:tblPr/>
                  <a:tblGrid>
                    <a:gridCol w="1187993">
                      <a:extLst>
                        <a:ext uri="{9D8B030D-6E8A-4147-A177-3AD203B41FA5}">
                          <a16:colId xmlns:a16="http://schemas.microsoft.com/office/drawing/2014/main" val="525705323"/>
                        </a:ext>
                      </a:extLst>
                    </a:gridCol>
                    <a:gridCol w="1187993">
                      <a:extLst>
                        <a:ext uri="{9D8B030D-6E8A-4147-A177-3AD203B41FA5}">
                          <a16:colId xmlns:a16="http://schemas.microsoft.com/office/drawing/2014/main" val="2064554597"/>
                        </a:ext>
                      </a:extLst>
                    </a:gridCol>
                    <a:gridCol w="2337665">
                      <a:extLst>
                        <a:ext uri="{9D8B030D-6E8A-4147-A177-3AD203B41FA5}">
                          <a16:colId xmlns:a16="http://schemas.microsoft.com/office/drawing/2014/main" val="2687049354"/>
                        </a:ext>
                      </a:extLst>
                    </a:gridCol>
                    <a:gridCol w="728125">
                      <a:extLst>
                        <a:ext uri="{9D8B030D-6E8A-4147-A177-3AD203B41FA5}">
                          <a16:colId xmlns:a16="http://schemas.microsoft.com/office/drawing/2014/main" val="3934025367"/>
                        </a:ext>
                      </a:extLst>
                    </a:gridCol>
                  </a:tblGrid>
                  <a:tr h="23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3" t="-23684" r="-358462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13" t="-23684" r="-258462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823" t="-23684" r="-31250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EMA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175892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Inicial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5541025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0.3*12 + 0.7*10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870697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0.3*13 + 0.7*10.6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164634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0.3*16 + 0.7*11.32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538504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0.3*15 + 0.7*12.72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13.4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1577028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0.3*20 + 0.7*13.41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15.39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0773674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0.3*22 + 0.7*15.38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414532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0.3*21 + 0.7*17.37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101933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0.3*23 + 0.7*18.46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10334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0.3*25 + 0.7*19.82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306016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0.3*26 + 0.7*21.37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3095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0.3*28 + 0.7*22.76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224456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0.3*30 + 0.7*24.33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92364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0.3*29 + 0.7*26.03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824374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0.3*31 + 0.7*26.92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28.14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884060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0.3*33 + 0.7*28.15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29.61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7285056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0.3*35 + 0.7*29.6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807123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0.3*36 + 0.7*31.22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32.65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532252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0.3*38 + 0.7*32.66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963373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0.3*42 + 0.7*34.26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36.58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27791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D2F688B-B9E8-B074-8F7C-B5029656921A}"/>
                  </a:ext>
                </a:extLst>
              </p:cNvPr>
              <p:cNvSpPr txBox="1"/>
              <p:nvPr/>
            </p:nvSpPr>
            <p:spPr>
              <a:xfrm>
                <a:off x="367582" y="1357223"/>
                <a:ext cx="2834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2"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D2F688B-B9E8-B074-8F7C-B50296569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82" y="1357223"/>
                <a:ext cx="283464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52B8257F-85CD-03B6-D226-4EB6089DDEEE}"/>
              </a:ext>
            </a:extLst>
          </p:cNvPr>
          <p:cNvSpPr/>
          <p:nvPr/>
        </p:nvSpPr>
        <p:spPr>
          <a:xfrm rot="16200000">
            <a:off x="2448242" y="1825531"/>
            <a:ext cx="48768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9FD033E-0A90-4CDC-7AE4-A471738F6B69}"/>
              </a:ext>
            </a:extLst>
          </p:cNvPr>
          <p:cNvSpPr txBox="1"/>
          <p:nvPr/>
        </p:nvSpPr>
        <p:spPr>
          <a:xfrm>
            <a:off x="2081821" y="2345871"/>
            <a:ext cx="1220521" cy="646331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+mj-lt"/>
              </a:rPr>
              <a:t>Definición </a:t>
            </a:r>
            <a:r>
              <a:rPr lang="es-MX" b="1" dirty="0">
                <a:latin typeface="+mj-lt"/>
              </a:rPr>
              <a:t>recursiva</a:t>
            </a:r>
            <a:endParaRPr lang="es-MX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B5FD9F5-BBA4-F508-7CFB-C3CDC10B8682}"/>
                  </a:ext>
                </a:extLst>
              </p:cNvPr>
              <p:cNvSpPr txBox="1"/>
              <p:nvPr/>
            </p:nvSpPr>
            <p:spPr>
              <a:xfrm>
                <a:off x="399848" y="3420830"/>
                <a:ext cx="2834640" cy="1200329"/>
              </a:xfrm>
              <a:prstGeom prst="rect">
                <a:avLst/>
              </a:prstGeom>
              <a:solidFill>
                <a:srgbClr val="F3FEC3"/>
              </a:solidFill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s-MX" dirty="0"/>
                  <a:t>El valor suavizado actual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/>
                  <a:t>) es una combinación del dato actual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MX" dirty="0"/>
                  <a:t>) y del valor suavizado anterior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s-MX" dirty="0"/>
                  <a:t>).</a:t>
                </a:r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B5FD9F5-BBA4-F508-7CFB-C3CDC10B8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48" y="3420830"/>
                <a:ext cx="2834640" cy="1200329"/>
              </a:xfrm>
              <a:prstGeom prst="rect">
                <a:avLst/>
              </a:prstGeom>
              <a:blipFill>
                <a:blip r:embed="rId5"/>
                <a:stretch>
                  <a:fillRect l="-1935" t="-2538" r="-1720" b="-710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6108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5AD72-C47B-004C-F580-5EC80C6FC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59E4DD0C-6AD2-3A04-5FA0-50417B54A45A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82E4A27C-808F-BF08-41E0-DA734A4F8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4481CBD7-9BA5-505C-BFA4-F666DFDC72D2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 (EMA)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43438799-AA2B-E837-6DE9-ACAFE7035F1D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dirty="0">
                <a:latin typeface="+mj-lt"/>
              </a:rPr>
              <a:t>Ejemplo:</a:t>
            </a: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489AA3C-BB1D-EDF8-26A6-57DBE8BEEE13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19DD353B-B048-CF06-88FB-E09D3851B63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87942" y="970027"/>
              <a:ext cx="5441776" cy="4917946"/>
            </p:xfrm>
            <a:graphic>
              <a:graphicData uri="http://schemas.openxmlformats.org/drawingml/2006/table">
                <a:tbl>
                  <a:tblPr/>
                  <a:tblGrid>
                    <a:gridCol w="1187993">
                      <a:extLst>
                        <a:ext uri="{9D8B030D-6E8A-4147-A177-3AD203B41FA5}">
                          <a16:colId xmlns:a16="http://schemas.microsoft.com/office/drawing/2014/main" val="525705323"/>
                        </a:ext>
                      </a:extLst>
                    </a:gridCol>
                    <a:gridCol w="1187993">
                      <a:extLst>
                        <a:ext uri="{9D8B030D-6E8A-4147-A177-3AD203B41FA5}">
                          <a16:colId xmlns:a16="http://schemas.microsoft.com/office/drawing/2014/main" val="2064554597"/>
                        </a:ext>
                      </a:extLst>
                    </a:gridCol>
                    <a:gridCol w="2337665">
                      <a:extLst>
                        <a:ext uri="{9D8B030D-6E8A-4147-A177-3AD203B41FA5}">
                          <a16:colId xmlns:a16="http://schemas.microsoft.com/office/drawing/2014/main" val="2687049354"/>
                        </a:ext>
                      </a:extLst>
                    </a:gridCol>
                    <a:gridCol w="728125">
                      <a:extLst>
                        <a:ext uri="{9D8B030D-6E8A-4147-A177-3AD203B41FA5}">
                          <a16:colId xmlns:a16="http://schemas.microsoft.com/office/drawing/2014/main" val="3934025367"/>
                        </a:ext>
                      </a:extLst>
                    </a:gridCol>
                  </a:tblGrid>
                  <a:tr h="117177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Tiempo (</a:t>
                          </a:r>
                          <a14:m>
                            <m:oMath xmlns:m="http://schemas.openxmlformats.org/officeDocument/2006/math">
                              <m:r>
                                <a:rPr lang="es-MX" sz="1500" b="1" i="1" u="none" strike="noStrike" smtClean="0">
                                  <a:solidFill>
                                    <a:srgbClr val="FFFFFF"/>
                                  </a:solidFill>
                                  <a:effectLst/>
                                  <a:latin typeface="+mj-lt"/>
                                </a:rPr>
                                <m:t>𝒕</m:t>
                              </m:r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Dato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500" b="1" i="1" smtClean="0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Cálcu</a:t>
                          </a:r>
                          <a:r>
                            <a:rPr lang="en-US" sz="1500" b="1" i="0" u="none" strike="noStrike" kern="1200" dirty="0" err="1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lo</a:t>
                          </a:r>
                          <a14:m>
                            <m:oMath xmlns:m="http://schemas.openxmlformats.org/officeDocument/2006/math">
                              <m:r>
                                <a:rPr lang="es-MX" sz="1500" b="1" i="0" smtClean="0">
                                  <a:solidFill>
                                    <a:schemeClr val="bg1"/>
                                  </a:solidFill>
                                  <a:latin typeface="+mj-lt"/>
                                </a:rPr>
                                <m:t> </m:t>
                              </m:r>
                              <m:r>
                                <a:rPr lang="fr-FR" sz="1500" b="1" i="1" smtClean="0">
                                  <a:solidFill>
                                    <a:schemeClr val="bg1"/>
                                  </a:solidFill>
                                  <a:latin typeface="+mj-lt"/>
                                </a:rPr>
                                <m:t>𝜶</m:t>
                              </m:r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 = 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EMA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175892"/>
                      </a:ext>
                    </a:extLst>
                  </a:tr>
                  <a:tr h="11717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Inicial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5541025"/>
                      </a:ext>
                    </a:extLst>
                  </a:tr>
                  <a:tr h="11717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0.3*12 + 0.7*10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870697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0.3*13 + 0.7*10.6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164634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0.3*16 + 0.7*11.32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538504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0.3*15 + 0.7*12.72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13.4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1577028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0.3*20 + 0.7*13.41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15.39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0773674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0.3*22 + 0.7*15.38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414532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0.3*21 + 0.7*17.37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101933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0.3*23 + 0.7*18.46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10334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0.3*25 + 0.7*19.82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306016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0.3*26 + 0.7*21.37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3095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0.3*28 + 0.7*22.76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224456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0.3*30 + 0.7*24.33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92364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0.3*29 + 0.7*26.03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824374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0.3*31 + 0.7*26.92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28.14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884060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0.3*33 + 0.7*28.15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29.61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7285056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0.3*35 + 0.7*29.6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807123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0.3*36 + 0.7*31.22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32.65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532252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0.3*38 + 0.7*32.66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963373"/>
                      </a:ext>
                    </a:extLst>
                  </a:tr>
                  <a:tr h="190413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0.3*42 + 0.7*34.26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36.58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27791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19DD353B-B048-CF06-88FB-E09D3851B63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87942" y="970027"/>
              <a:ext cx="5441776" cy="4917946"/>
            </p:xfrm>
            <a:graphic>
              <a:graphicData uri="http://schemas.openxmlformats.org/drawingml/2006/table">
                <a:tbl>
                  <a:tblPr/>
                  <a:tblGrid>
                    <a:gridCol w="1187993">
                      <a:extLst>
                        <a:ext uri="{9D8B030D-6E8A-4147-A177-3AD203B41FA5}">
                          <a16:colId xmlns:a16="http://schemas.microsoft.com/office/drawing/2014/main" val="525705323"/>
                        </a:ext>
                      </a:extLst>
                    </a:gridCol>
                    <a:gridCol w="1187993">
                      <a:extLst>
                        <a:ext uri="{9D8B030D-6E8A-4147-A177-3AD203B41FA5}">
                          <a16:colId xmlns:a16="http://schemas.microsoft.com/office/drawing/2014/main" val="2064554597"/>
                        </a:ext>
                      </a:extLst>
                    </a:gridCol>
                    <a:gridCol w="2337665">
                      <a:extLst>
                        <a:ext uri="{9D8B030D-6E8A-4147-A177-3AD203B41FA5}">
                          <a16:colId xmlns:a16="http://schemas.microsoft.com/office/drawing/2014/main" val="2687049354"/>
                        </a:ext>
                      </a:extLst>
                    </a:gridCol>
                    <a:gridCol w="728125">
                      <a:extLst>
                        <a:ext uri="{9D8B030D-6E8A-4147-A177-3AD203B41FA5}">
                          <a16:colId xmlns:a16="http://schemas.microsoft.com/office/drawing/2014/main" val="3934025367"/>
                        </a:ext>
                      </a:extLst>
                    </a:gridCol>
                  </a:tblGrid>
                  <a:tr h="23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3" t="-23684" r="-358462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13" t="-23684" r="-258462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823" t="-23684" r="-31250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EMA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175892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Inicial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5541025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0.3*12 + 0.7*10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870697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0.3*13 + 0.7*10.6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164634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0.3*16 + 0.7*11.32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538504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0.3*15 + 0.7*12.72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13.4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1577028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0.3*20 + 0.7*13.41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15.39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0773674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0.3*22 + 0.7*15.38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414532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0.3*21 + 0.7*17.37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101933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0.3*23 + 0.7*18.46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10334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0.3*25 + 0.7*19.82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306016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0.3*26 + 0.7*21.37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3095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0.3*28 + 0.7*22.76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224456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0.3*30 + 0.7*24.33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92364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0.3*29 + 0.7*26.03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824374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0.3*31 + 0.7*26.92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28.14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884060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0.3*33 + 0.7*28.15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29.61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7285056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0.3*35 + 0.7*29.6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807123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0.3*36 + 0.7*31.22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32.65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532252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0.3*38 + 0.7*32.66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963373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0.3*42 + 0.7*34.26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36.58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27791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76642BD-DCDE-A16E-7CFB-ADCDECCDA3BB}"/>
                  </a:ext>
                </a:extLst>
              </p:cNvPr>
              <p:cNvSpPr txBox="1"/>
              <p:nvPr/>
            </p:nvSpPr>
            <p:spPr>
              <a:xfrm>
                <a:off x="570782" y="1357223"/>
                <a:ext cx="2834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F76642BD-DCDE-A16E-7CFB-ADCDECCDA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82" y="1357223"/>
                <a:ext cx="283464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A350A93-E149-B95C-99C5-CC446F2C037C}"/>
                  </a:ext>
                </a:extLst>
              </p:cNvPr>
              <p:cNvSpPr txBox="1"/>
              <p:nvPr/>
            </p:nvSpPr>
            <p:spPr>
              <a:xfrm>
                <a:off x="570782" y="1970442"/>
                <a:ext cx="32798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A350A93-E149-B95C-99C5-CC446F2C0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82" y="1970442"/>
                <a:ext cx="327985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brir llave 14">
            <a:extLst>
              <a:ext uri="{FF2B5EF4-FFF2-40B4-BE49-F238E27FC236}">
                <a16:creationId xmlns:a16="http://schemas.microsoft.com/office/drawing/2014/main" id="{65451811-35F5-16DA-D67F-F24309F4C0E6}"/>
              </a:ext>
            </a:extLst>
          </p:cNvPr>
          <p:cNvSpPr/>
          <p:nvPr/>
        </p:nvSpPr>
        <p:spPr>
          <a:xfrm rot="5400000">
            <a:off x="2253502" y="1000319"/>
            <a:ext cx="172720" cy="1958109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8E4CFFA-BE3E-8935-AF1E-05A11E492E6D}"/>
              </a:ext>
            </a:extLst>
          </p:cNvPr>
          <p:cNvSpPr/>
          <p:nvPr/>
        </p:nvSpPr>
        <p:spPr>
          <a:xfrm>
            <a:off x="2501208" y="1384171"/>
            <a:ext cx="443345" cy="335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5577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36A6D-AF6F-CE58-2737-DA6C65FAC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9F677E6F-13DD-DD9E-23F6-55E370A0285C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288746FE-103A-2318-FDA0-69155F681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9D31FE93-DE34-607F-8054-4F535BBD79F6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 (EMA)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863D9CC6-3224-5980-7A9D-FE34D39F796A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dirty="0">
                <a:latin typeface="+mj-lt"/>
              </a:rPr>
              <a:t>Ejemplo:</a:t>
            </a: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r>
              <a:rPr lang="es-MX" dirty="0"/>
              <a:t>Sustituyendo:</a:t>
            </a:r>
          </a:p>
          <a:p>
            <a:pPr marL="0" lvl="1" algn="just"/>
            <a:endParaRPr lang="es-MX" dirty="0"/>
          </a:p>
          <a:p>
            <a:pPr marL="0" lvl="1" algn="just"/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58AC393-A540-44F5-6E83-ADED3DEB42C2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7C13E3E8-5066-3CFE-B16B-A6263E6B45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87942" y="970027"/>
              <a:ext cx="5441776" cy="4917946"/>
            </p:xfrm>
            <a:graphic>
              <a:graphicData uri="http://schemas.openxmlformats.org/drawingml/2006/table">
                <a:tbl>
                  <a:tblPr/>
                  <a:tblGrid>
                    <a:gridCol w="1187993">
                      <a:extLst>
                        <a:ext uri="{9D8B030D-6E8A-4147-A177-3AD203B41FA5}">
                          <a16:colId xmlns:a16="http://schemas.microsoft.com/office/drawing/2014/main" val="525705323"/>
                        </a:ext>
                      </a:extLst>
                    </a:gridCol>
                    <a:gridCol w="1187993">
                      <a:extLst>
                        <a:ext uri="{9D8B030D-6E8A-4147-A177-3AD203B41FA5}">
                          <a16:colId xmlns:a16="http://schemas.microsoft.com/office/drawing/2014/main" val="2064554597"/>
                        </a:ext>
                      </a:extLst>
                    </a:gridCol>
                    <a:gridCol w="2337665">
                      <a:extLst>
                        <a:ext uri="{9D8B030D-6E8A-4147-A177-3AD203B41FA5}">
                          <a16:colId xmlns:a16="http://schemas.microsoft.com/office/drawing/2014/main" val="2687049354"/>
                        </a:ext>
                      </a:extLst>
                    </a:gridCol>
                    <a:gridCol w="728125">
                      <a:extLst>
                        <a:ext uri="{9D8B030D-6E8A-4147-A177-3AD203B41FA5}">
                          <a16:colId xmlns:a16="http://schemas.microsoft.com/office/drawing/2014/main" val="3934025367"/>
                        </a:ext>
                      </a:extLst>
                    </a:gridCol>
                  </a:tblGrid>
                  <a:tr h="117177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Tiempo (</a:t>
                          </a:r>
                          <a14:m>
                            <m:oMath xmlns:m="http://schemas.openxmlformats.org/officeDocument/2006/math">
                              <m:r>
                                <a:rPr lang="es-MX" sz="1500" b="1" i="1" u="none" strike="noStrike" smtClean="0">
                                  <a:solidFill>
                                    <a:srgbClr val="FFFFFF"/>
                                  </a:solidFill>
                                  <a:effectLst/>
                                  <a:latin typeface="+mj-lt"/>
                                </a:rPr>
                                <m:t>𝒕</m:t>
                              </m:r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Dato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500" b="1" i="1" smtClean="0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Cálcu</a:t>
                          </a:r>
                          <a:r>
                            <a:rPr lang="en-US" sz="1500" b="1" i="0" u="none" strike="noStrike" kern="1200" dirty="0" err="1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lo</a:t>
                          </a:r>
                          <a14:m>
                            <m:oMath xmlns:m="http://schemas.openxmlformats.org/officeDocument/2006/math">
                              <m:r>
                                <a:rPr lang="es-MX" sz="1500" b="1" i="0" smtClean="0">
                                  <a:solidFill>
                                    <a:schemeClr val="bg1"/>
                                  </a:solidFill>
                                  <a:latin typeface="+mj-lt"/>
                                </a:rPr>
                                <m:t> </m:t>
                              </m:r>
                              <m:r>
                                <a:rPr lang="fr-FR" sz="1500" b="1" i="1" smtClean="0">
                                  <a:solidFill>
                                    <a:schemeClr val="bg1"/>
                                  </a:solidFill>
                                  <a:latin typeface="+mj-lt"/>
                                </a:rPr>
                                <m:t>𝜶</m:t>
                              </m:r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 = 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EMA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175892"/>
                      </a:ext>
                    </a:extLst>
                  </a:tr>
                  <a:tr h="11717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Inicial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5541025"/>
                      </a:ext>
                    </a:extLst>
                  </a:tr>
                  <a:tr h="11717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0.3*12 + 0.7*10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870697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0.3*13 + 0.7*10.6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164634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0.3*16 + 0.7*11.32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538504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0.3*15 + 0.7*12.72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13.4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1577028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0.3*20 + 0.7*13.41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15.39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0773674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0.3*22 + 0.7*15.38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414532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0.3*21 + 0.7*17.37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101933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0.3*23 + 0.7*18.46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10334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0.3*25 + 0.7*19.82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306016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0.3*26 + 0.7*21.37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3095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0.3*28 + 0.7*22.76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224456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0.3*30 + 0.7*24.33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92364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0.3*29 + 0.7*26.03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824374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0.3*31 + 0.7*26.92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28.14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884060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0.3*33 + 0.7*28.15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29.61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7285056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0.3*35 + 0.7*29.6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807123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0.3*36 + 0.7*31.22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32.65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532252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0.3*38 + 0.7*32.66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963373"/>
                      </a:ext>
                    </a:extLst>
                  </a:tr>
                  <a:tr h="190413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0.3*42 + 0.7*34.26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36.58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27791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7C13E3E8-5066-3CFE-B16B-A6263E6B45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87942" y="970027"/>
              <a:ext cx="5441776" cy="4917946"/>
            </p:xfrm>
            <a:graphic>
              <a:graphicData uri="http://schemas.openxmlformats.org/drawingml/2006/table">
                <a:tbl>
                  <a:tblPr/>
                  <a:tblGrid>
                    <a:gridCol w="1187993">
                      <a:extLst>
                        <a:ext uri="{9D8B030D-6E8A-4147-A177-3AD203B41FA5}">
                          <a16:colId xmlns:a16="http://schemas.microsoft.com/office/drawing/2014/main" val="525705323"/>
                        </a:ext>
                      </a:extLst>
                    </a:gridCol>
                    <a:gridCol w="1187993">
                      <a:extLst>
                        <a:ext uri="{9D8B030D-6E8A-4147-A177-3AD203B41FA5}">
                          <a16:colId xmlns:a16="http://schemas.microsoft.com/office/drawing/2014/main" val="2064554597"/>
                        </a:ext>
                      </a:extLst>
                    </a:gridCol>
                    <a:gridCol w="2337665">
                      <a:extLst>
                        <a:ext uri="{9D8B030D-6E8A-4147-A177-3AD203B41FA5}">
                          <a16:colId xmlns:a16="http://schemas.microsoft.com/office/drawing/2014/main" val="2687049354"/>
                        </a:ext>
                      </a:extLst>
                    </a:gridCol>
                    <a:gridCol w="728125">
                      <a:extLst>
                        <a:ext uri="{9D8B030D-6E8A-4147-A177-3AD203B41FA5}">
                          <a16:colId xmlns:a16="http://schemas.microsoft.com/office/drawing/2014/main" val="3934025367"/>
                        </a:ext>
                      </a:extLst>
                    </a:gridCol>
                  </a:tblGrid>
                  <a:tr h="23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3" t="-23684" r="-358462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13" t="-23684" r="-258462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823" t="-23684" r="-31250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EMA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175892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Inicial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5541025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0.3*12 + 0.7*10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870697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0.3*13 + 0.7*10.6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164634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0.3*16 + 0.7*11.32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538504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0.3*15 + 0.7*12.72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13.4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1577028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0.3*20 + 0.7*13.41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15.39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0773674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0.3*22 + 0.7*15.38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414532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0.3*21 + 0.7*17.37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101933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0.3*23 + 0.7*18.46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10334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0.3*25 + 0.7*19.82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306016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0.3*26 + 0.7*21.37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3095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0.3*28 + 0.7*22.76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224456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0.3*30 + 0.7*24.33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92364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0.3*29 + 0.7*26.03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824374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0.3*31 + 0.7*26.92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28.14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884060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0.3*33 + 0.7*28.15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29.61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7285056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0.3*35 + 0.7*29.6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807123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0.3*36 + 0.7*31.22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32.65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532252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0.3*38 + 0.7*32.66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963373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0.3*42 + 0.7*34.26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36.58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27791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4592F43-8AFA-CE41-5B09-A67320143F99}"/>
                  </a:ext>
                </a:extLst>
              </p:cNvPr>
              <p:cNvSpPr txBox="1"/>
              <p:nvPr/>
            </p:nvSpPr>
            <p:spPr>
              <a:xfrm>
                <a:off x="570782" y="1357223"/>
                <a:ext cx="2834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4592F43-8AFA-CE41-5B09-A67320143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82" y="1357223"/>
                <a:ext cx="283464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C871992-B729-9650-8C06-68A5CCEB8686}"/>
                  </a:ext>
                </a:extLst>
              </p:cNvPr>
              <p:cNvSpPr txBox="1"/>
              <p:nvPr/>
            </p:nvSpPr>
            <p:spPr>
              <a:xfrm>
                <a:off x="570782" y="1970442"/>
                <a:ext cx="32798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C871992-B729-9650-8C06-68A5CCEB8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82" y="1970442"/>
                <a:ext cx="327985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brir llave 14">
            <a:extLst>
              <a:ext uri="{FF2B5EF4-FFF2-40B4-BE49-F238E27FC236}">
                <a16:creationId xmlns:a16="http://schemas.microsoft.com/office/drawing/2014/main" id="{B6BA1ED9-1A7E-B8BE-E6C6-494F950EA7FC}"/>
              </a:ext>
            </a:extLst>
          </p:cNvPr>
          <p:cNvSpPr/>
          <p:nvPr/>
        </p:nvSpPr>
        <p:spPr>
          <a:xfrm rot="5400000">
            <a:off x="2253502" y="1000319"/>
            <a:ext cx="172720" cy="1958109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7F07B45-0E14-8EDD-2866-32CCDC6186A1}"/>
              </a:ext>
            </a:extLst>
          </p:cNvPr>
          <p:cNvSpPr/>
          <p:nvPr/>
        </p:nvSpPr>
        <p:spPr>
          <a:xfrm>
            <a:off x="2501208" y="1384171"/>
            <a:ext cx="443345" cy="335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25685B31-F46C-294F-51FB-D5C1E0DEE6F2}"/>
                  </a:ext>
                </a:extLst>
              </p:cNvPr>
              <p:cNvSpPr txBox="1"/>
              <p:nvPr/>
            </p:nvSpPr>
            <p:spPr>
              <a:xfrm>
                <a:off x="533400" y="3190582"/>
                <a:ext cx="425196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lvl="2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s-MX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s-MX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MX" b="1" dirty="0">
                  <a:latin typeface="+mj-lt"/>
                </a:endParaRPr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25685B31-F46C-294F-51FB-D5C1E0DEE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190582"/>
                <a:ext cx="4251960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3225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F1A33-9329-5889-2891-E923DA0AD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E98353D4-D21A-9195-75C4-5BFD845FDC88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C015E926-651B-87DF-F30D-2392AE863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287901C0-9C23-2D86-761C-06BBACC618CB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 (EMA)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475D31D3-7F35-8ABC-B9EA-ED9C936CF81D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dirty="0">
                <a:latin typeface="+mj-lt"/>
              </a:rPr>
              <a:t>Ejemplo:</a:t>
            </a: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r>
              <a:rPr lang="es-MX" dirty="0"/>
              <a:t>Sustituyendo:</a:t>
            </a:r>
          </a:p>
          <a:p>
            <a:pPr marL="0" lvl="1" algn="just"/>
            <a:endParaRPr lang="es-MX" dirty="0"/>
          </a:p>
          <a:p>
            <a:pPr marL="0" lvl="1" algn="just"/>
            <a:endParaRPr lang="es-MX" dirty="0"/>
          </a:p>
          <a:p>
            <a:pPr marL="0" lvl="1" algn="just"/>
            <a:endParaRPr lang="es-MX" dirty="0"/>
          </a:p>
          <a:p>
            <a:pPr marL="0" lvl="1" algn="just"/>
            <a:r>
              <a:rPr lang="es-MX" dirty="0"/>
              <a:t>Distribuyendo:</a:t>
            </a:r>
          </a:p>
          <a:p>
            <a:pPr marL="0" lvl="1" algn="just"/>
            <a:endParaRPr lang="es-MX" dirty="0"/>
          </a:p>
          <a:p>
            <a:pPr marL="0" lvl="1" algn="just"/>
            <a:endParaRPr lang="es-MX" dirty="0">
              <a:latin typeface="+mj-lt"/>
            </a:endParaRPr>
          </a:p>
          <a:p>
            <a:pPr marL="285750" lvl="1" indent="-285750" algn="just">
              <a:buFont typeface="Wingdings" panose="05000000000000000000" pitchFamily="2" charset="2"/>
              <a:buChar char="q"/>
            </a:pPr>
            <a:endParaRPr lang="es-MX" dirty="0">
              <a:latin typeface="+mj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C4DB1CD-48D4-20BA-BF11-5C8AE27D3324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2FEA3D6E-32D8-C18C-33F8-C55DAEF65A6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87942" y="970027"/>
              <a:ext cx="5441776" cy="4917946"/>
            </p:xfrm>
            <a:graphic>
              <a:graphicData uri="http://schemas.openxmlformats.org/drawingml/2006/table">
                <a:tbl>
                  <a:tblPr/>
                  <a:tblGrid>
                    <a:gridCol w="1187993">
                      <a:extLst>
                        <a:ext uri="{9D8B030D-6E8A-4147-A177-3AD203B41FA5}">
                          <a16:colId xmlns:a16="http://schemas.microsoft.com/office/drawing/2014/main" val="525705323"/>
                        </a:ext>
                      </a:extLst>
                    </a:gridCol>
                    <a:gridCol w="1187993">
                      <a:extLst>
                        <a:ext uri="{9D8B030D-6E8A-4147-A177-3AD203B41FA5}">
                          <a16:colId xmlns:a16="http://schemas.microsoft.com/office/drawing/2014/main" val="2064554597"/>
                        </a:ext>
                      </a:extLst>
                    </a:gridCol>
                    <a:gridCol w="2337665">
                      <a:extLst>
                        <a:ext uri="{9D8B030D-6E8A-4147-A177-3AD203B41FA5}">
                          <a16:colId xmlns:a16="http://schemas.microsoft.com/office/drawing/2014/main" val="2687049354"/>
                        </a:ext>
                      </a:extLst>
                    </a:gridCol>
                    <a:gridCol w="728125">
                      <a:extLst>
                        <a:ext uri="{9D8B030D-6E8A-4147-A177-3AD203B41FA5}">
                          <a16:colId xmlns:a16="http://schemas.microsoft.com/office/drawing/2014/main" val="3934025367"/>
                        </a:ext>
                      </a:extLst>
                    </a:gridCol>
                  </a:tblGrid>
                  <a:tr h="117177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Tiempo (</a:t>
                          </a:r>
                          <a14:m>
                            <m:oMath xmlns:m="http://schemas.openxmlformats.org/officeDocument/2006/math">
                              <m:r>
                                <a:rPr lang="es-MX" sz="1500" b="1" i="1" u="none" strike="noStrike" smtClean="0">
                                  <a:solidFill>
                                    <a:srgbClr val="FFFFFF"/>
                                  </a:solidFill>
                                  <a:effectLst/>
                                  <a:latin typeface="+mj-lt"/>
                                </a:rPr>
                                <m:t>𝒕</m:t>
                              </m:r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Dato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500" b="1" i="1" smtClean="0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Cálcu</a:t>
                          </a:r>
                          <a:r>
                            <a:rPr lang="en-US" sz="1500" b="1" i="0" u="none" strike="noStrike" kern="1200" dirty="0" err="1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lo</a:t>
                          </a:r>
                          <a14:m>
                            <m:oMath xmlns:m="http://schemas.openxmlformats.org/officeDocument/2006/math">
                              <m:r>
                                <a:rPr lang="es-MX" sz="1500" b="1" i="0" smtClean="0">
                                  <a:solidFill>
                                    <a:schemeClr val="bg1"/>
                                  </a:solidFill>
                                  <a:latin typeface="+mj-lt"/>
                                </a:rPr>
                                <m:t> </m:t>
                              </m:r>
                              <m:r>
                                <a:rPr lang="fr-FR" sz="1500" b="1" i="1" smtClean="0">
                                  <a:solidFill>
                                    <a:schemeClr val="bg1"/>
                                  </a:solidFill>
                                  <a:latin typeface="+mj-lt"/>
                                </a:rPr>
                                <m:t>𝜶</m:t>
                              </m:r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 = 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EMA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175892"/>
                      </a:ext>
                    </a:extLst>
                  </a:tr>
                  <a:tr h="11717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Inicial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5541025"/>
                      </a:ext>
                    </a:extLst>
                  </a:tr>
                  <a:tr h="11717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0.3*12 + 0.7*10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870697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0.3*13 + 0.7*10.6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164634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0.3*16 + 0.7*11.32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538504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0.3*15 + 0.7*12.72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13.4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1577028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0.3*20 + 0.7*13.41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15.39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0773674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0.3*22 + 0.7*15.38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414532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0.3*21 + 0.7*17.37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101933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0.3*23 + 0.7*18.46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10334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0.3*25 + 0.7*19.82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306016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0.3*26 + 0.7*21.37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3095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0.3*28 + 0.7*22.76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224456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0.3*30 + 0.7*24.33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92364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0.3*29 + 0.7*26.03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824374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0.3*31 + 0.7*26.92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28.14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884060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0.3*33 + 0.7*28.15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29.61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7285056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0.3*35 + 0.7*29.6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807123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0.3*36 + 0.7*31.22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32.65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532252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0.3*38 + 0.7*32.66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963373"/>
                      </a:ext>
                    </a:extLst>
                  </a:tr>
                  <a:tr h="190413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0.3*42 + 0.7*34.26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36.58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27791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2FEA3D6E-32D8-C18C-33F8-C55DAEF65A6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87942" y="970027"/>
              <a:ext cx="5441776" cy="4917946"/>
            </p:xfrm>
            <a:graphic>
              <a:graphicData uri="http://schemas.openxmlformats.org/drawingml/2006/table">
                <a:tbl>
                  <a:tblPr/>
                  <a:tblGrid>
                    <a:gridCol w="1187993">
                      <a:extLst>
                        <a:ext uri="{9D8B030D-6E8A-4147-A177-3AD203B41FA5}">
                          <a16:colId xmlns:a16="http://schemas.microsoft.com/office/drawing/2014/main" val="525705323"/>
                        </a:ext>
                      </a:extLst>
                    </a:gridCol>
                    <a:gridCol w="1187993">
                      <a:extLst>
                        <a:ext uri="{9D8B030D-6E8A-4147-A177-3AD203B41FA5}">
                          <a16:colId xmlns:a16="http://schemas.microsoft.com/office/drawing/2014/main" val="2064554597"/>
                        </a:ext>
                      </a:extLst>
                    </a:gridCol>
                    <a:gridCol w="2337665">
                      <a:extLst>
                        <a:ext uri="{9D8B030D-6E8A-4147-A177-3AD203B41FA5}">
                          <a16:colId xmlns:a16="http://schemas.microsoft.com/office/drawing/2014/main" val="2687049354"/>
                        </a:ext>
                      </a:extLst>
                    </a:gridCol>
                    <a:gridCol w="728125">
                      <a:extLst>
                        <a:ext uri="{9D8B030D-6E8A-4147-A177-3AD203B41FA5}">
                          <a16:colId xmlns:a16="http://schemas.microsoft.com/office/drawing/2014/main" val="3934025367"/>
                        </a:ext>
                      </a:extLst>
                    </a:gridCol>
                  </a:tblGrid>
                  <a:tr h="23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3" t="-23684" r="-358462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13" t="-23684" r="-258462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823" t="-23684" r="-31250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EMA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175892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Inicial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5541025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0.3*12 + 0.7*10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870697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0.3*13 + 0.7*10.6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164634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0.3*16 + 0.7*11.32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538504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0.3*15 + 0.7*12.72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13.4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1577028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0.3*20 + 0.7*13.41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15.39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0773674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0.3*22 + 0.7*15.38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414532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0.3*21 + 0.7*17.37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101933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0.3*23 + 0.7*18.46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10334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0.3*25 + 0.7*19.82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306016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0.3*26 + 0.7*21.37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3095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0.3*28 + 0.7*22.76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224456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0.3*30 + 0.7*24.33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92364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0.3*29 + 0.7*26.03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824374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0.3*31 + 0.7*26.92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28.14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884060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0.3*33 + 0.7*28.15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29.61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7285056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0.3*35 + 0.7*29.6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807123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0.3*36 + 0.7*31.22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32.65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532252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0.3*38 + 0.7*32.66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963373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0.3*42 + 0.7*34.26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36.58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27791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CA3105F-A861-B5D6-BD1C-479B751553D9}"/>
                  </a:ext>
                </a:extLst>
              </p:cNvPr>
              <p:cNvSpPr txBox="1"/>
              <p:nvPr/>
            </p:nvSpPr>
            <p:spPr>
              <a:xfrm>
                <a:off x="570782" y="1357223"/>
                <a:ext cx="2834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CA3105F-A861-B5D6-BD1C-479B75155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82" y="1357223"/>
                <a:ext cx="283464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8C78EFC-A042-FD98-4C0E-EAF037C9A12A}"/>
                  </a:ext>
                </a:extLst>
              </p:cNvPr>
              <p:cNvSpPr txBox="1"/>
              <p:nvPr/>
            </p:nvSpPr>
            <p:spPr>
              <a:xfrm>
                <a:off x="570782" y="1970442"/>
                <a:ext cx="32798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8C78EFC-A042-FD98-4C0E-EAF037C9A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82" y="1970442"/>
                <a:ext cx="327985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brir llave 14">
            <a:extLst>
              <a:ext uri="{FF2B5EF4-FFF2-40B4-BE49-F238E27FC236}">
                <a16:creationId xmlns:a16="http://schemas.microsoft.com/office/drawing/2014/main" id="{EAB57251-A274-5FCD-F52E-0AAFE64D80A5}"/>
              </a:ext>
            </a:extLst>
          </p:cNvPr>
          <p:cNvSpPr/>
          <p:nvPr/>
        </p:nvSpPr>
        <p:spPr>
          <a:xfrm rot="5400000">
            <a:off x="2253502" y="1000319"/>
            <a:ext cx="172720" cy="1958109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55A5CC3-6A07-703D-C926-49EBCD452BA7}"/>
              </a:ext>
            </a:extLst>
          </p:cNvPr>
          <p:cNvSpPr/>
          <p:nvPr/>
        </p:nvSpPr>
        <p:spPr>
          <a:xfrm>
            <a:off x="2501208" y="1384171"/>
            <a:ext cx="443345" cy="335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42A15BE-5270-9F3F-7D5E-2482F3720A0D}"/>
                  </a:ext>
                </a:extLst>
              </p:cNvPr>
              <p:cNvSpPr txBox="1"/>
              <p:nvPr/>
            </p:nvSpPr>
            <p:spPr>
              <a:xfrm>
                <a:off x="533400" y="3190582"/>
                <a:ext cx="425196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lvl="2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s-MX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s-MX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MX" b="1" dirty="0">
                  <a:latin typeface="+mj-lt"/>
                </a:endParaRPr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042A15BE-5270-9F3F-7D5E-2482F3720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190582"/>
                <a:ext cx="4251960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439A056-8892-30AC-FDEC-FCEC36F88923}"/>
                  </a:ext>
                </a:extLst>
              </p:cNvPr>
              <p:cNvSpPr txBox="1"/>
              <p:nvPr/>
            </p:nvSpPr>
            <p:spPr>
              <a:xfrm>
                <a:off x="533400" y="4300519"/>
                <a:ext cx="559308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lvl="2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d>
                        <m:dPr>
                          <m:ctrlP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9439A056-8892-30AC-FDEC-FCEC36F88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300519"/>
                <a:ext cx="559308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DE50988-C8FA-C412-B150-FAA036B9C58B}"/>
                  </a:ext>
                </a:extLst>
              </p:cNvPr>
              <p:cNvSpPr txBox="1"/>
              <p:nvPr/>
            </p:nvSpPr>
            <p:spPr>
              <a:xfrm>
                <a:off x="533400" y="4635107"/>
                <a:ext cx="559308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lvl="2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FR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DE50988-C8FA-C412-B150-FAA036B9C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635107"/>
                <a:ext cx="5593080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lecha: curvada hacia la derecha 1">
            <a:extLst>
              <a:ext uri="{FF2B5EF4-FFF2-40B4-BE49-F238E27FC236}">
                <a16:creationId xmlns:a16="http://schemas.microsoft.com/office/drawing/2014/main" id="{4DF71F8D-767E-59C3-D4B9-36FF72A484C0}"/>
              </a:ext>
            </a:extLst>
          </p:cNvPr>
          <p:cNvSpPr/>
          <p:nvPr/>
        </p:nvSpPr>
        <p:spPr>
          <a:xfrm rot="16010537">
            <a:off x="2387847" y="3306336"/>
            <a:ext cx="245020" cy="740605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3" name="Flecha: curvada hacia la derecha 2">
            <a:extLst>
              <a:ext uri="{FF2B5EF4-FFF2-40B4-BE49-F238E27FC236}">
                <a16:creationId xmlns:a16="http://schemas.microsoft.com/office/drawing/2014/main" id="{6B0F7DDD-AF37-50DB-E339-9BD4993379A6}"/>
              </a:ext>
            </a:extLst>
          </p:cNvPr>
          <p:cNvSpPr/>
          <p:nvPr/>
        </p:nvSpPr>
        <p:spPr>
          <a:xfrm rot="16010537">
            <a:off x="2977139" y="2696635"/>
            <a:ext cx="365510" cy="2035006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762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F624B-53C8-C6AD-85D9-37F51679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7600919D-2F46-C850-A476-17DEF49AC3A9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198AC2F5-DDC0-935A-AC8C-B403C8AFA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31C3DCDC-3269-5D9A-3024-51E9E0FB9C9E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 (EMA)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D0072603-F6F8-522A-DBF1-23FF12066DDB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dirty="0">
                <a:latin typeface="+mj-lt"/>
              </a:rPr>
              <a:t>Ejemplo:</a:t>
            </a: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r>
              <a:rPr lang="es-MX" dirty="0"/>
              <a:t>Sustituyendo:</a:t>
            </a:r>
          </a:p>
          <a:p>
            <a:pPr marL="0" lvl="1" algn="just"/>
            <a:endParaRPr lang="es-MX" dirty="0"/>
          </a:p>
          <a:p>
            <a:pPr marL="0" lvl="1" algn="just"/>
            <a:endParaRPr lang="es-MX" dirty="0"/>
          </a:p>
          <a:p>
            <a:pPr marL="0" lvl="1" algn="just"/>
            <a:endParaRPr lang="es-MX" dirty="0"/>
          </a:p>
          <a:p>
            <a:pPr marL="0" lvl="1" algn="just"/>
            <a:r>
              <a:rPr lang="es-MX" dirty="0"/>
              <a:t>Distribuyendo:</a:t>
            </a:r>
          </a:p>
          <a:p>
            <a:pPr marL="0" lvl="1" algn="just"/>
            <a:endParaRPr lang="es-MX" dirty="0"/>
          </a:p>
          <a:p>
            <a:pPr marL="0" lvl="1" algn="just"/>
            <a:endParaRPr lang="es-MX" dirty="0">
              <a:latin typeface="+mj-lt"/>
            </a:endParaRPr>
          </a:p>
          <a:p>
            <a:pPr marL="285750" lvl="1" indent="-285750" algn="just">
              <a:buFont typeface="Wingdings" panose="05000000000000000000" pitchFamily="2" charset="2"/>
              <a:buChar char="q"/>
            </a:pPr>
            <a:endParaRPr lang="es-MX" dirty="0">
              <a:latin typeface="+mj-lt"/>
            </a:endParaRPr>
          </a:p>
          <a:p>
            <a:pPr marL="285750" lvl="1" indent="-285750" algn="just">
              <a:buFont typeface="Wingdings" panose="05000000000000000000" pitchFamily="2" charset="2"/>
              <a:buChar char="q"/>
            </a:pPr>
            <a:endParaRPr lang="es-MX" dirty="0">
              <a:latin typeface="+mj-lt"/>
            </a:endParaRPr>
          </a:p>
          <a:p>
            <a:pPr marL="0" lvl="1" algn="just"/>
            <a:r>
              <a:rPr lang="es-MX" dirty="0" err="1">
                <a:latin typeface="+mj-lt"/>
              </a:rPr>
              <a:t>Etc</a:t>
            </a:r>
            <a:r>
              <a:rPr lang="es-MX" dirty="0">
                <a:latin typeface="+mj-lt"/>
              </a:rPr>
              <a:t>…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AFE3FF2-C8CB-BF14-B307-53EAA41E6216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C409511D-F7FE-2426-BB16-2ADBD58809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87942" y="970027"/>
              <a:ext cx="5441776" cy="4917946"/>
            </p:xfrm>
            <a:graphic>
              <a:graphicData uri="http://schemas.openxmlformats.org/drawingml/2006/table">
                <a:tbl>
                  <a:tblPr/>
                  <a:tblGrid>
                    <a:gridCol w="1187993">
                      <a:extLst>
                        <a:ext uri="{9D8B030D-6E8A-4147-A177-3AD203B41FA5}">
                          <a16:colId xmlns:a16="http://schemas.microsoft.com/office/drawing/2014/main" val="525705323"/>
                        </a:ext>
                      </a:extLst>
                    </a:gridCol>
                    <a:gridCol w="1187993">
                      <a:extLst>
                        <a:ext uri="{9D8B030D-6E8A-4147-A177-3AD203B41FA5}">
                          <a16:colId xmlns:a16="http://schemas.microsoft.com/office/drawing/2014/main" val="2064554597"/>
                        </a:ext>
                      </a:extLst>
                    </a:gridCol>
                    <a:gridCol w="2337665">
                      <a:extLst>
                        <a:ext uri="{9D8B030D-6E8A-4147-A177-3AD203B41FA5}">
                          <a16:colId xmlns:a16="http://schemas.microsoft.com/office/drawing/2014/main" val="2687049354"/>
                        </a:ext>
                      </a:extLst>
                    </a:gridCol>
                    <a:gridCol w="728125">
                      <a:extLst>
                        <a:ext uri="{9D8B030D-6E8A-4147-A177-3AD203B41FA5}">
                          <a16:colId xmlns:a16="http://schemas.microsoft.com/office/drawing/2014/main" val="3934025367"/>
                        </a:ext>
                      </a:extLst>
                    </a:gridCol>
                  </a:tblGrid>
                  <a:tr h="117177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Tiempo (</a:t>
                          </a:r>
                          <a14:m>
                            <m:oMath xmlns:m="http://schemas.openxmlformats.org/officeDocument/2006/math">
                              <m:r>
                                <a:rPr lang="es-MX" sz="1500" b="1" i="1" u="none" strike="noStrike" smtClean="0">
                                  <a:solidFill>
                                    <a:srgbClr val="FFFFFF"/>
                                  </a:solidFill>
                                  <a:effectLst/>
                                  <a:latin typeface="+mj-lt"/>
                                </a:rPr>
                                <m:t>𝒕</m:t>
                              </m:r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Dato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500" b="1" i="1" smtClean="0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Cálcu</a:t>
                          </a:r>
                          <a:r>
                            <a:rPr lang="en-US" sz="1500" b="1" i="0" u="none" strike="noStrike" kern="1200" dirty="0" err="1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lo</a:t>
                          </a:r>
                          <a14:m>
                            <m:oMath xmlns:m="http://schemas.openxmlformats.org/officeDocument/2006/math">
                              <m:r>
                                <a:rPr lang="es-MX" sz="1500" b="1" i="0" smtClean="0">
                                  <a:solidFill>
                                    <a:schemeClr val="bg1"/>
                                  </a:solidFill>
                                  <a:latin typeface="+mj-lt"/>
                                </a:rPr>
                                <m:t> </m:t>
                              </m:r>
                              <m:r>
                                <a:rPr lang="fr-FR" sz="1500" b="1" i="1" smtClean="0">
                                  <a:solidFill>
                                    <a:schemeClr val="bg1"/>
                                  </a:solidFill>
                                  <a:latin typeface="+mj-lt"/>
                                </a:rPr>
                                <m:t>𝜶</m:t>
                              </m:r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 = 3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EMA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175892"/>
                      </a:ext>
                    </a:extLst>
                  </a:tr>
                  <a:tr h="11717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Inicial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5541025"/>
                      </a:ext>
                    </a:extLst>
                  </a:tr>
                  <a:tr h="117177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0.3*12 + 0.7*10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870697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0.3*13 + 0.7*10.6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164634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0.3*16 + 0.7*11.32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538504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0.3*15 + 0.7*12.72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13.4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1577028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0.3*20 + 0.7*13.41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15.39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0773674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0.3*22 + 0.7*15.38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414532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0.3*21 + 0.7*17.37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101933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0.3*23 + 0.7*18.46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10334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0.3*25 + 0.7*19.82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306016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0.3*26 + 0.7*21.37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3095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0.3*28 + 0.7*22.76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224456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0.3*30 + 0.7*24.33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92364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0.3*29 + 0.7*26.03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824374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0.3*31 + 0.7*26.92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28.14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884060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0.3*33 + 0.7*28.15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29.61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7285056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0.3*35 + 0.7*29.6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807123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0.3*36 + 0.7*31.22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32.65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532252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0.3*38 + 0.7*32.66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963373"/>
                      </a:ext>
                    </a:extLst>
                  </a:tr>
                  <a:tr h="190413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0.3*42 + 0.7*34.26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36.58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27791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C409511D-F7FE-2426-BB16-2ADBD58809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87942" y="970027"/>
              <a:ext cx="5441776" cy="4917946"/>
            </p:xfrm>
            <a:graphic>
              <a:graphicData uri="http://schemas.openxmlformats.org/drawingml/2006/table">
                <a:tbl>
                  <a:tblPr/>
                  <a:tblGrid>
                    <a:gridCol w="1187993">
                      <a:extLst>
                        <a:ext uri="{9D8B030D-6E8A-4147-A177-3AD203B41FA5}">
                          <a16:colId xmlns:a16="http://schemas.microsoft.com/office/drawing/2014/main" val="525705323"/>
                        </a:ext>
                      </a:extLst>
                    </a:gridCol>
                    <a:gridCol w="1187993">
                      <a:extLst>
                        <a:ext uri="{9D8B030D-6E8A-4147-A177-3AD203B41FA5}">
                          <a16:colId xmlns:a16="http://schemas.microsoft.com/office/drawing/2014/main" val="2064554597"/>
                        </a:ext>
                      </a:extLst>
                    </a:gridCol>
                    <a:gridCol w="2337665">
                      <a:extLst>
                        <a:ext uri="{9D8B030D-6E8A-4147-A177-3AD203B41FA5}">
                          <a16:colId xmlns:a16="http://schemas.microsoft.com/office/drawing/2014/main" val="2687049354"/>
                        </a:ext>
                      </a:extLst>
                    </a:gridCol>
                    <a:gridCol w="728125">
                      <a:extLst>
                        <a:ext uri="{9D8B030D-6E8A-4147-A177-3AD203B41FA5}">
                          <a16:colId xmlns:a16="http://schemas.microsoft.com/office/drawing/2014/main" val="3934025367"/>
                        </a:ext>
                      </a:extLst>
                    </a:gridCol>
                  </a:tblGrid>
                  <a:tr h="2334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3" t="-23684" r="-358462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13" t="-23684" r="-258462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823" t="-23684" r="-31250" b="-207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+mj-lt"/>
                            </a:rPr>
                            <a:t>EMA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175892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Inicial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55541025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0.3*12 + 0.7*10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8870697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0.3*13 + 0.7*10.6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164634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0.3*16 + 0.7*11.32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538504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0.3*15 + 0.7*12.72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13.4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1577028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0.3*20 + 0.7*13.41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15.39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0773674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0.3*22 + 0.7*15.38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414532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0.3*21 + 0.7*17.37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1101933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0.3*23 + 0.7*18.46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8010334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0.3*25 + 0.7*19.82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3060167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0.3*26 + 0.7*21.37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3095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0.3*28 + 0.7*22.76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4224456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0.3*30 + 0.7*24.33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92364161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0.3*29 + 0.7*26.03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8243749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0.3*31 + 0.7*26.92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28.14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8884060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0.3*33 + 0.7*28.15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29.61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7285056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0.3*35 + 0.7*29.6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8071230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0.3*36 + 0.7*31.22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32.65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5322525"/>
                      </a:ext>
                    </a:extLst>
                  </a:tr>
                  <a:tr h="234354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0.3*38 + 0.7*32.66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963373"/>
                      </a:ext>
                    </a:extLst>
                  </a:tr>
                  <a:tr h="233482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0.3*42 + 0.7*34.26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36.58</a:t>
                          </a:r>
                        </a:p>
                      </a:txBody>
                      <a:tcPr marL="4882" marR="4882" marT="4882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27791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D7DF9F2-A715-2A96-2F19-90728E39AB85}"/>
                  </a:ext>
                </a:extLst>
              </p:cNvPr>
              <p:cNvSpPr txBox="1"/>
              <p:nvPr/>
            </p:nvSpPr>
            <p:spPr>
              <a:xfrm>
                <a:off x="570782" y="1357223"/>
                <a:ext cx="28346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AD7DF9F2-A715-2A96-2F19-90728E39A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82" y="1357223"/>
                <a:ext cx="283464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E9BF2F0-0A9C-BEB9-493F-73D865EBC1E4}"/>
                  </a:ext>
                </a:extLst>
              </p:cNvPr>
              <p:cNvSpPr txBox="1"/>
              <p:nvPr/>
            </p:nvSpPr>
            <p:spPr>
              <a:xfrm>
                <a:off x="570782" y="1970442"/>
                <a:ext cx="32798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FE9BF2F0-0A9C-BEB9-493F-73D865EBC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82" y="1970442"/>
                <a:ext cx="327985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brir llave 14">
            <a:extLst>
              <a:ext uri="{FF2B5EF4-FFF2-40B4-BE49-F238E27FC236}">
                <a16:creationId xmlns:a16="http://schemas.microsoft.com/office/drawing/2014/main" id="{F74B9D2F-6C1D-BF86-523E-8357D542343B}"/>
              </a:ext>
            </a:extLst>
          </p:cNvPr>
          <p:cNvSpPr/>
          <p:nvPr/>
        </p:nvSpPr>
        <p:spPr>
          <a:xfrm rot="5400000">
            <a:off x="2253502" y="1000319"/>
            <a:ext cx="172720" cy="1958109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6F4FE12-8335-CE31-B44E-CE88E12B3428}"/>
              </a:ext>
            </a:extLst>
          </p:cNvPr>
          <p:cNvSpPr/>
          <p:nvPr/>
        </p:nvSpPr>
        <p:spPr>
          <a:xfrm>
            <a:off x="2501208" y="1384171"/>
            <a:ext cx="443345" cy="335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C18EC3E5-C032-42DC-886E-320127BB1511}"/>
                  </a:ext>
                </a:extLst>
              </p:cNvPr>
              <p:cNvSpPr txBox="1"/>
              <p:nvPr/>
            </p:nvSpPr>
            <p:spPr>
              <a:xfrm>
                <a:off x="533400" y="3190582"/>
                <a:ext cx="425196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lvl="2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s-MX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s-MX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s-MX" b="1" dirty="0">
                  <a:latin typeface="+mj-lt"/>
                </a:endParaRPr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C18EC3E5-C032-42DC-886E-320127BB1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190582"/>
                <a:ext cx="4251960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2E80C58-6C41-9798-743E-1A2E5EA45A64}"/>
                  </a:ext>
                </a:extLst>
              </p:cNvPr>
              <p:cNvSpPr txBox="1"/>
              <p:nvPr/>
            </p:nvSpPr>
            <p:spPr>
              <a:xfrm>
                <a:off x="533400" y="4300519"/>
                <a:ext cx="559308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lvl="2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d>
                        <m:dPr>
                          <m:ctrlP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D2E80C58-6C41-9798-743E-1A2E5EA45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300519"/>
                <a:ext cx="559308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024BB3F5-6DCD-DC17-3A6D-52DC179CD99E}"/>
                  </a:ext>
                </a:extLst>
              </p:cNvPr>
              <p:cNvSpPr txBox="1"/>
              <p:nvPr/>
            </p:nvSpPr>
            <p:spPr>
              <a:xfrm>
                <a:off x="533400" y="4635107"/>
                <a:ext cx="559308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lvl="2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FR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fr-FR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024BB3F5-6DCD-DC17-3A6D-52DC179CD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635107"/>
                <a:ext cx="5593080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lecha: curvada hacia la derecha 1">
            <a:extLst>
              <a:ext uri="{FF2B5EF4-FFF2-40B4-BE49-F238E27FC236}">
                <a16:creationId xmlns:a16="http://schemas.microsoft.com/office/drawing/2014/main" id="{A5D8D315-80A5-3B82-779B-9DC73075FD91}"/>
              </a:ext>
            </a:extLst>
          </p:cNvPr>
          <p:cNvSpPr/>
          <p:nvPr/>
        </p:nvSpPr>
        <p:spPr>
          <a:xfrm rot="16010537">
            <a:off x="2387847" y="3306336"/>
            <a:ext cx="245020" cy="740605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3" name="Flecha: curvada hacia la derecha 2">
            <a:extLst>
              <a:ext uri="{FF2B5EF4-FFF2-40B4-BE49-F238E27FC236}">
                <a16:creationId xmlns:a16="http://schemas.microsoft.com/office/drawing/2014/main" id="{2CCF798D-12AC-8249-3961-F8D2E2CAC275}"/>
              </a:ext>
            </a:extLst>
          </p:cNvPr>
          <p:cNvSpPr/>
          <p:nvPr/>
        </p:nvSpPr>
        <p:spPr>
          <a:xfrm rot="16010537">
            <a:off x="2977139" y="2696635"/>
            <a:ext cx="365510" cy="2035006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BADED5A-4EB3-D17A-7D4E-BCF205610842}"/>
                  </a:ext>
                </a:extLst>
              </p:cNvPr>
              <p:cNvSpPr txBox="1"/>
              <p:nvPr/>
            </p:nvSpPr>
            <p:spPr>
              <a:xfrm>
                <a:off x="575800" y="5648365"/>
                <a:ext cx="678228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0" lvl="2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fr-F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fr-F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−3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+···</m:t>
                      </m:r>
                    </m:oMath>
                  </m:oMathPara>
                </a14:m>
                <a:endParaRPr lang="es-MX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BBADED5A-4EB3-D17A-7D4E-BCF205610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00" y="5648365"/>
                <a:ext cx="6782281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349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B9A6C-E97C-D4F5-246B-240CA984C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38A83605-277D-CA6E-3B85-EF79CA47CC4A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EBB05244-2B0C-99FF-A799-3025767FE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5FF32991-FF8D-2F60-2876-B520A65BBBAD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 (EMA)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8F452F94-676D-91D3-754B-760E1850514E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dirty="0">
                <a:latin typeface="+mj-lt"/>
              </a:rPr>
              <a:t>Ejemplo: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3DE8635-7716-A135-2534-CF96359859ED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D41AD798-9D79-73B8-B993-FF6F1F78A4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5964187"/>
                  </p:ext>
                </p:extLst>
              </p:nvPr>
            </p:nvGraphicFramePr>
            <p:xfrm>
              <a:off x="1793054" y="942282"/>
              <a:ext cx="5983616" cy="4905936"/>
            </p:xfrm>
            <a:graphic>
              <a:graphicData uri="http://schemas.openxmlformats.org/drawingml/2006/table">
                <a:tbl>
                  <a:tblPr/>
                  <a:tblGrid>
                    <a:gridCol w="1360816">
                      <a:extLst>
                        <a:ext uri="{9D8B030D-6E8A-4147-A177-3AD203B41FA5}">
                          <a16:colId xmlns:a16="http://schemas.microsoft.com/office/drawing/2014/main" val="3235631447"/>
                        </a:ext>
                      </a:extLst>
                    </a:gridCol>
                    <a:gridCol w="1432560">
                      <a:extLst>
                        <a:ext uri="{9D8B030D-6E8A-4147-A177-3AD203B41FA5}">
                          <a16:colId xmlns:a16="http://schemas.microsoft.com/office/drawing/2014/main" val="1065505437"/>
                        </a:ext>
                      </a:extLst>
                    </a:gridCol>
                    <a:gridCol w="1412240">
                      <a:extLst>
                        <a:ext uri="{9D8B030D-6E8A-4147-A177-3AD203B41FA5}">
                          <a16:colId xmlns:a16="http://schemas.microsoft.com/office/drawing/2014/main" val="3542953529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679802614"/>
                        </a:ext>
                      </a:extLst>
                    </a:gridCol>
                  </a:tblGrid>
                  <a:tr h="116050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Tiempo (</a:t>
                          </a:r>
                          <a14:m>
                            <m:oMath xmlns:m="http://schemas.openxmlformats.org/officeDocument/2006/math">
                              <m:r>
                                <a:rPr lang="es-MX" sz="1500" b="1" i="1" u="none" strike="noStrike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Dato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5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500" b="1" i="0" u="none" strike="noStrike" kern="1200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5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5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  <m:d>
                                      <m:dPr>
                                        <m:ctrlPr>
                                          <a:rPr lang="fr-FR" sz="1500" b="1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sz="1500" b="1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fr-FR" sz="1500" b="1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fr-FR" sz="1500" b="1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𝜶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s-MX" sz="15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500" b="1" i="0" u="none" strike="noStrike" dirty="0">
                            <a:solidFill>
                              <a:schemeClr val="bg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0" marR="0" marT="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+mj-lt"/>
                            </a:rPr>
                            <a:t>Factor *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5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s-MX" sz="15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oMath>
                          </a14:m>
                          <a:endParaRPr lang="en-US" sz="1500" b="1" i="0" u="none" strike="noStrike" dirty="0">
                            <a:solidFill>
                              <a:schemeClr val="bg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0" marR="0" marT="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5608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4812114"/>
                      </a:ext>
                    </a:extLst>
                  </a:tr>
                  <a:tr h="11605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0.000342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0.003419669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48665351"/>
                      </a:ext>
                    </a:extLst>
                  </a:tr>
                  <a:tr h="116050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0.000489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0.005862289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1560231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0.000698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0.00907259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80453046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0.000997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0.015951807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1667047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0.001424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0.021364027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5930333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0.002035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0.040693384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89796648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0.002907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0.063946747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0747466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0.004152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0.087200109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67447645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0.005932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0.136435545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960504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0.008474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0.211856437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261050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0.012106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0.314758135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382263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0.017294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0.484243284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1647458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0.024706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0.7411887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56719295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0.035295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1.0235463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6319417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0.050421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1.563051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93709337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0.07203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2.37699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97366532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0.1029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3.6015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7046623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0.147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5.292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0411470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0.21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7.98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07238550"/>
                      </a:ext>
                    </a:extLst>
                  </a:tr>
                  <a:tr h="232101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12.6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05620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3" name="Tabla 22">
                <a:extLst>
                  <a:ext uri="{FF2B5EF4-FFF2-40B4-BE49-F238E27FC236}">
                    <a16:creationId xmlns:a16="http://schemas.microsoft.com/office/drawing/2014/main" id="{D41AD798-9D79-73B8-B993-FF6F1F78A4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5964187"/>
                  </p:ext>
                </p:extLst>
              </p:nvPr>
            </p:nvGraphicFramePr>
            <p:xfrm>
              <a:off x="1793054" y="942282"/>
              <a:ext cx="5983616" cy="4905936"/>
            </p:xfrm>
            <a:graphic>
              <a:graphicData uri="http://schemas.openxmlformats.org/drawingml/2006/table">
                <a:tbl>
                  <a:tblPr/>
                  <a:tblGrid>
                    <a:gridCol w="1360816">
                      <a:extLst>
                        <a:ext uri="{9D8B030D-6E8A-4147-A177-3AD203B41FA5}">
                          <a16:colId xmlns:a16="http://schemas.microsoft.com/office/drawing/2014/main" val="3235631447"/>
                        </a:ext>
                      </a:extLst>
                    </a:gridCol>
                    <a:gridCol w="1432560">
                      <a:extLst>
                        <a:ext uri="{9D8B030D-6E8A-4147-A177-3AD203B41FA5}">
                          <a16:colId xmlns:a16="http://schemas.microsoft.com/office/drawing/2014/main" val="1065505437"/>
                        </a:ext>
                      </a:extLst>
                    </a:gridCol>
                    <a:gridCol w="1412240">
                      <a:extLst>
                        <a:ext uri="{9D8B030D-6E8A-4147-A177-3AD203B41FA5}">
                          <a16:colId xmlns:a16="http://schemas.microsoft.com/office/drawing/2014/main" val="3542953529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679802614"/>
                        </a:ext>
                      </a:extLst>
                    </a:gridCol>
                  </a:tblGrid>
                  <a:tr h="2372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8" t="-20513" r="-340807" b="-20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51" marR="4851" marT="4851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5319" t="-20513" r="-223404" b="-20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7845" t="-20513" r="-126293" b="-20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6644" t="-20513" r="-342" b="-2012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4812114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0.000342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0.003419669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48665351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0.000489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0.005862289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1560231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0.000698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0.00907259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80453046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0.000997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0.015951807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1667047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0.001424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0.021364027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5930333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0.002035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0.040693384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89796648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0.002907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0.063946747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0747466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8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21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0.004152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0.087200109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67447645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0.005932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0.136435545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960504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10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0.008474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0.211856437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261050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11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0.012106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0.314758135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8382263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28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0.017294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0.484243284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1647458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30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0.024706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0.7411887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56719295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14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0.035295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1.0235463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6319417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31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0.050421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1.563051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93709337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0.07203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2.37699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97366532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0.1029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3.6015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87046623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18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0.147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5.292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0411470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19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38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0.21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7.98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07238550"/>
                      </a:ext>
                    </a:extLst>
                  </a:tr>
                  <a:tr h="233435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20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42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0.3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5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+mj-lt"/>
                            </a:rPr>
                            <a:t>12.6</a:t>
                          </a:r>
                        </a:p>
                      </a:txBody>
                      <a:tcPr marL="4835" marR="4835" marT="4835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05620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CuadroTexto 26">
            <a:extLst>
              <a:ext uri="{FF2B5EF4-FFF2-40B4-BE49-F238E27FC236}">
                <a16:creationId xmlns:a16="http://schemas.microsoft.com/office/drawing/2014/main" id="{F9FB4533-AEB2-DB17-6A42-54F150DA18FC}"/>
              </a:ext>
            </a:extLst>
          </p:cNvPr>
          <p:cNvSpPr txBox="1"/>
          <p:nvPr/>
        </p:nvSpPr>
        <p:spPr>
          <a:xfrm>
            <a:off x="7864792" y="5547994"/>
            <a:ext cx="126904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500" b="1" dirty="0"/>
              <a:t>36.57308002</a:t>
            </a:r>
          </a:p>
        </p:txBody>
      </p:sp>
    </p:spTree>
    <p:extLst>
      <p:ext uri="{BB962C8B-B14F-4D97-AF65-F5344CB8AC3E}">
        <p14:creationId xmlns:p14="http://schemas.microsoft.com/office/powerpoint/2010/main" val="772216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FD289-B405-D065-8F0C-658DD7F09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9B57041C-BC87-8F04-CDA1-CCAECF455AD2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2B336B07-CA41-6160-B1A5-0FA194B03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548CA9DD-6A78-3251-BEEA-E1F232D0C2A6}"/>
              </a:ext>
            </a:extLst>
          </p:cNvPr>
          <p:cNvSpPr txBox="1"/>
          <p:nvPr/>
        </p:nvSpPr>
        <p:spPr>
          <a:xfrm>
            <a:off x="214282" y="71414"/>
            <a:ext cx="8929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suavizado (SMA, WMA, EMA)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34CBFB5C-FC8E-E429-3AA3-5B57E4718D9F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lvl="1" indent="-285750" algn="just">
              <a:buFont typeface="Wingdings" panose="05000000000000000000" pitchFamily="2" charset="2"/>
              <a:buChar char="q"/>
            </a:pPr>
            <a:endParaRPr lang="es-MX" dirty="0">
              <a:latin typeface="+mj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34F7237-7F62-03D0-381B-C01617D2A731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48AB57D-023E-B145-F2B2-1D4B2F107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87276"/>
              </p:ext>
            </p:extLst>
          </p:nvPr>
        </p:nvGraphicFramePr>
        <p:xfrm>
          <a:off x="1601764" y="1739576"/>
          <a:ext cx="6387480" cy="1760220"/>
        </p:xfrm>
        <a:graphic>
          <a:graphicData uri="http://schemas.openxmlformats.org/drawingml/2006/table">
            <a:tbl>
              <a:tblPr/>
              <a:tblGrid>
                <a:gridCol w="872436">
                  <a:extLst>
                    <a:ext uri="{9D8B030D-6E8A-4147-A177-3AD203B41FA5}">
                      <a16:colId xmlns:a16="http://schemas.microsoft.com/office/drawing/2014/main" val="3975096485"/>
                    </a:ext>
                  </a:extLst>
                </a:gridCol>
                <a:gridCol w="2399200">
                  <a:extLst>
                    <a:ext uri="{9D8B030D-6E8A-4147-A177-3AD203B41FA5}">
                      <a16:colId xmlns:a16="http://schemas.microsoft.com/office/drawing/2014/main" val="1337082312"/>
                    </a:ext>
                  </a:extLst>
                </a:gridCol>
                <a:gridCol w="3115844">
                  <a:extLst>
                    <a:ext uri="{9D8B030D-6E8A-4147-A177-3AD203B41FA5}">
                      <a16:colId xmlns:a16="http://schemas.microsoft.com/office/drawing/2014/main" val="3966370337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Método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Pesos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Interpretación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70194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Iguales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Todos los datos valen lo mismo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75713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WMA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Definidos por el usuario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Algunos datos pesan más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73285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Automáticos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Peso </a:t>
                      </a: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decrece</a:t>
                      </a: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exponencialmente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31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130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C7B7D-DC98-1658-7F1E-BA8AF7C50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B9A62D85-8362-6668-0959-ECEC17358A72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7B285067-22BA-15DB-9FE5-A0A5CF9F1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FF31A796-937B-6F51-3A25-8A90C984554B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8F5533B0-E98C-56BF-0A62-9182DDB04209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numpy as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pandas as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Serie de tiempo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data = [10, 12, 13, 16, 15, 20, 22, 21, 23, 25,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26, 28, 30, 29, 31, 33, 35, 36, 38, 42]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serie = </a:t>
            </a:r>
            <a:r>
              <a:rPr lang="es-MX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311A722-6312-E238-B1EF-B945DF4F38DB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FF7BD1B-BDEF-FCA5-BDF0-640B0CED3229}"/>
              </a:ext>
            </a:extLst>
          </p:cNvPr>
          <p:cNvSpPr txBox="1"/>
          <p:nvPr/>
        </p:nvSpPr>
        <p:spPr>
          <a:xfrm>
            <a:off x="3328020" y="2594094"/>
            <a:ext cx="3972560" cy="369332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r>
              <a:rPr lang="es-MX" dirty="0"/>
              <a:t>Convierte la lista en una serie temporal</a:t>
            </a:r>
          </a:p>
        </p:txBody>
      </p:sp>
      <p:pic>
        <p:nvPicPr>
          <p:cNvPr id="15" name="Imagen 14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616D4613-D781-F563-3EC5-6794DCC0A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721" y="823549"/>
            <a:ext cx="885949" cy="5210902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E28A7BB5-FA90-10C9-4B8B-90A1CF963D8D}"/>
              </a:ext>
            </a:extLst>
          </p:cNvPr>
          <p:cNvSpPr txBox="1"/>
          <p:nvPr/>
        </p:nvSpPr>
        <p:spPr>
          <a:xfrm>
            <a:off x="7631282" y="81868"/>
            <a:ext cx="885949" cy="369332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pPr algn="ctr"/>
            <a:r>
              <a:rPr lang="es-MX" dirty="0"/>
              <a:t>índice</a:t>
            </a:r>
          </a:p>
        </p:txBody>
      </p:sp>
      <p:sp>
        <p:nvSpPr>
          <p:cNvPr id="28" name="Flecha: hacia abajo 27">
            <a:extLst>
              <a:ext uri="{FF2B5EF4-FFF2-40B4-BE49-F238E27FC236}">
                <a16:creationId xmlns:a16="http://schemas.microsoft.com/office/drawing/2014/main" id="{EABFCE17-21F4-95F7-095C-4DCCAE464EA1}"/>
              </a:ext>
            </a:extLst>
          </p:cNvPr>
          <p:cNvSpPr/>
          <p:nvPr/>
        </p:nvSpPr>
        <p:spPr>
          <a:xfrm>
            <a:off x="7941318" y="481020"/>
            <a:ext cx="265879" cy="30813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1141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C06F4-BFE1-9044-1444-5D58BFE7E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BCE876DB-E002-5D04-C7F2-333D44EBDB2C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EC45D2D9-5567-8A29-D385-7CFD2E5F8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E6A6F3B1-02B0-BC6C-1687-C88578C6E985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882B6DE5-AFE8-6471-8718-F36FB9A7325F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#1. Media Móvil Simple (SMA)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k = 3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</a:t>
            </a:r>
            <a:r>
              <a:rPr lang="es-MX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rolling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=k)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.mean()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#2. Media Móvil Ponderada (WMA)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([0.2, 0.3, 0.5])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np.dot(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wma_series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serie.rolling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=3).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apply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raw=True)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#3. Media Móvil Exponencial (EMA)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0.3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serie.ewm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=False).mean()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CBA0270-9D59-692C-463C-97C1B00F8009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4DF319C-0466-AA7D-87BF-9E70D388C9B5}"/>
                  </a:ext>
                </a:extLst>
              </p:cNvPr>
              <p:cNvSpPr txBox="1"/>
              <p:nvPr/>
            </p:nvSpPr>
            <p:spPr>
              <a:xfrm>
                <a:off x="4748244" y="853343"/>
                <a:ext cx="3064796" cy="1477328"/>
              </a:xfrm>
              <a:prstGeom prst="rect">
                <a:avLst/>
              </a:prstGeom>
              <a:solidFill>
                <a:srgbClr val="F3FEC3"/>
              </a:solidFill>
            </p:spPr>
            <p:txBody>
              <a:bodyPr wrap="square">
                <a:spAutoFit/>
              </a:bodyPr>
              <a:lstStyle/>
              <a:p>
                <a:pPr marL="182563" indent="-182563" algn="just">
                  <a:buFont typeface="Arial" panose="020B0604020202020204" pitchFamily="34" charset="0"/>
                  <a:buChar char="•"/>
                </a:pPr>
                <a:r>
                  <a:rPr lang="es-MX" dirty="0">
                    <a:latin typeface="+mj-lt"/>
                  </a:rPr>
                  <a:t>Crea una ventana deslizante de tamaño </a:t>
                </a:r>
                <a14:m>
                  <m:oMath xmlns:m="http://schemas.openxmlformats.org/officeDocument/2006/math">
                    <m:r>
                      <a:rPr lang="es-MX" i="1">
                        <a:latin typeface="+mj-lt"/>
                      </a:rPr>
                      <m:t>𝑘</m:t>
                    </m:r>
                  </m:oMath>
                </a14:m>
                <a:endParaRPr lang="es-MX" dirty="0">
                  <a:latin typeface="+mj-lt"/>
                </a:endParaRPr>
              </a:p>
              <a:p>
                <a:pPr marL="182563" indent="-182563" algn="just">
                  <a:buFont typeface="Arial" panose="020B0604020202020204" pitchFamily="34" charset="0"/>
                  <a:buChar char="•"/>
                </a:pPr>
                <a:endParaRPr lang="es-MX" dirty="0">
                  <a:latin typeface="+mj-lt"/>
                </a:endParaRPr>
              </a:p>
              <a:p>
                <a:pPr marL="182563" indent="-182563" algn="just">
                  <a:buFont typeface="Arial" panose="020B0604020202020204" pitchFamily="34" charset="0"/>
                  <a:buChar char="•"/>
                </a:pPr>
                <a:r>
                  <a:rPr lang="es-MX" dirty="0">
                    <a:latin typeface="+mj-lt"/>
                  </a:rPr>
                  <a:t>Para cada punto toma los últimos </a:t>
                </a:r>
                <a14:m>
                  <m:oMath xmlns:m="http://schemas.openxmlformats.org/officeDocument/2006/math">
                    <m:r>
                      <a:rPr lang="es-MX" i="1">
                        <a:latin typeface="+mj-lt"/>
                      </a:rPr>
                      <m:t>𝑘</m:t>
                    </m:r>
                  </m:oMath>
                </a14:m>
                <a:r>
                  <a:rPr lang="es-MX" dirty="0">
                    <a:latin typeface="+mj-lt"/>
                  </a:rPr>
                  <a:t> valores</a:t>
                </a:r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4DF319C-0466-AA7D-87BF-9E70D388C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244" y="853343"/>
                <a:ext cx="3064796" cy="1477328"/>
              </a:xfrm>
              <a:prstGeom prst="rect">
                <a:avLst/>
              </a:prstGeom>
              <a:blipFill>
                <a:blip r:embed="rId3"/>
                <a:stretch>
                  <a:fillRect l="-1392" t="-2479" r="-1590" b="-578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4514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6F0B7-B27C-301E-BB9F-E4E7293A3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0B7ED0F3-EBD0-4CBF-B456-29D07CA1B0E6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D69387A4-A7C3-F473-C568-BF0A41E64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9300DE7F-5051-1F25-A529-49ED544B9ED7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4AE5C4B9-A964-E97D-1DF7-CA862E5CF71D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#1. Media Móvil Simple (SMA)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k = 3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serie.rolling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=k).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mean()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#2. Media Móvil Ponderada (WMA)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([0.2, 0.3, 0.5])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np.dot(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wma_series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serie.rolling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=3).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apply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raw=True)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#3. Media Móvil Exponencial (EMA)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0.3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serie.ewm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=False).mean()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335DFEB-C4CF-5299-BFF4-318B512F154B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E3C31E0-AB1B-6C14-872F-317AB021AF9A}"/>
              </a:ext>
            </a:extLst>
          </p:cNvPr>
          <p:cNvSpPr txBox="1"/>
          <p:nvPr/>
        </p:nvSpPr>
        <p:spPr>
          <a:xfrm>
            <a:off x="4571984" y="1336545"/>
            <a:ext cx="2387616" cy="646331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+mj-lt"/>
              </a:rPr>
              <a:t>Calcula el promedio de la ventana de datos</a:t>
            </a:r>
          </a:p>
        </p:txBody>
      </p:sp>
    </p:spTree>
    <p:extLst>
      <p:ext uri="{BB962C8B-B14F-4D97-AF65-F5344CB8AC3E}">
        <p14:creationId xmlns:p14="http://schemas.microsoft.com/office/powerpoint/2010/main" val="3033790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7F51C-ACD1-C0F1-9020-80E03B74F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A1C331D1-EF54-E27E-35FE-78712D7A354C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C57DE826-6F35-92B5-82AA-F9CCA666E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B817B9CB-2DDD-735A-B8D4-5EAB6F0BBC16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08B93522-F5BD-CF1B-129C-DA0FB4FF12DE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#1. Media Móvil Simple (SMA)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k = 3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serie.rolling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=k).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mean()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#2. Media Móvil Ponderada (WMA)</a:t>
            </a:r>
          </a:p>
          <a:p>
            <a:pPr marL="0" lvl="1" algn="just"/>
            <a:r>
              <a:rPr lang="es-MX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([0.2, 0.3, 0.5])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np.dot(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wma_series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serie.rolling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=3).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apply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raw=True)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#3. Media Móvil Exponencial (EMA)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0.3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serie.ewm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=False).mean()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2520127-DBD7-D6B0-2CCC-698C45A25E4F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6D4246E-829B-8CD6-06AC-F2A98B3F314E}"/>
              </a:ext>
            </a:extLst>
          </p:cNvPr>
          <p:cNvSpPr txBox="1"/>
          <p:nvPr/>
        </p:nvSpPr>
        <p:spPr>
          <a:xfrm>
            <a:off x="4460224" y="2129025"/>
            <a:ext cx="2251996" cy="369332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+mj-lt"/>
              </a:rPr>
              <a:t>Define los pesos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0F3F5C2-932D-2CC1-8668-B392E1B9B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309928"/>
              </p:ext>
            </p:extLst>
          </p:nvPr>
        </p:nvGraphicFramePr>
        <p:xfrm>
          <a:off x="7089779" y="1810771"/>
          <a:ext cx="1574800" cy="1005840"/>
        </p:xfrm>
        <a:graphic>
          <a:graphicData uri="http://schemas.openxmlformats.org/drawingml/2006/table">
            <a:tbl>
              <a:tblPr/>
              <a:tblGrid>
                <a:gridCol w="787400">
                  <a:extLst>
                    <a:ext uri="{9D8B030D-6E8A-4147-A177-3AD203B41FA5}">
                      <a16:colId xmlns:a16="http://schemas.microsoft.com/office/drawing/2014/main" val="162928336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40893506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Peso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3047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yₜ₋₂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2641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yₜ₋₁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1505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yₜ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E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071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087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2208B-D8FE-27D2-566C-2F60F9861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268804AA-8CBD-EDE8-99D6-4AAF8EAC6684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9E4CEC47-1EBD-C25D-5DE4-00AB95B72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68AA6C5C-E8CB-45B8-6241-D4684401345D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3D9766F8-C3C0-6EB2-9066-2C0B952128ED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#1. Media Móvil Simple (SMA)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k = 3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serie.rolling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=k).mean()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#2. Media Móvil Ponderada (WMA)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([0.2, 0.3, 0.5])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1400" b="1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wma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lvl="1" algn="just"/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np.dot(</a:t>
            </a:r>
            <a:r>
              <a:rPr lang="es-MX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endParaRPr lang="es-MX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wma_series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serie.rolling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=3).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apply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raw=True)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#3. Media Móvil Exponencial (EMA)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0.3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serie.ewm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=False).mean()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D85DC82-0D4D-2EF8-852D-71D3F93784C1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C4442CA-E931-C98C-38C9-3177DA43D583}"/>
              </a:ext>
            </a:extLst>
          </p:cNvPr>
          <p:cNvSpPr txBox="1"/>
          <p:nvPr/>
        </p:nvSpPr>
        <p:spPr>
          <a:xfrm>
            <a:off x="5063545" y="1863651"/>
            <a:ext cx="3601034" cy="1277273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r>
              <a:rPr lang="es-MX" dirty="0">
                <a:latin typeface="+mj-lt"/>
              </a:rPr>
              <a:t>Función  </a:t>
            </a:r>
            <a:r>
              <a:rPr lang="es-MX" b="1" dirty="0" err="1">
                <a:highlight>
                  <a:srgbClr val="00FF00"/>
                </a:highlight>
                <a:latin typeface="+mj-lt"/>
              </a:rPr>
              <a:t>wma</a:t>
            </a:r>
            <a:r>
              <a:rPr lang="es-MX" dirty="0">
                <a:latin typeface="+mj-lt"/>
              </a:rPr>
              <a:t>:</a:t>
            </a:r>
          </a:p>
          <a:p>
            <a:endParaRPr lang="es-MX" sz="5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err="1">
                <a:latin typeface="+mj-lt"/>
              </a:rPr>
              <a:t>values</a:t>
            </a:r>
            <a:r>
              <a:rPr lang="es-MX" dirty="0">
                <a:latin typeface="+mj-lt"/>
              </a:rPr>
              <a:t>: ventana de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+mj-lt"/>
              </a:rPr>
              <a:t>producto punto:</a:t>
            </a:r>
          </a:p>
          <a:p>
            <a:pPr algn="ctr"/>
            <a:r>
              <a:rPr lang="en-US" dirty="0"/>
              <a:t>0.2⋅13 + 0.3⋅16 + 0.5⋅15</a:t>
            </a:r>
            <a:endParaRPr lang="es-MX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91851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7739D-87BD-FFE8-85DF-FA46E556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C1C2E87C-408E-9728-AF6F-8D08E435FF50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010C3EF1-74FF-A7EC-64B3-824379AB1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B55AC235-C947-B2B3-BDF8-123E0186C8B7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2EE89BFB-0DFD-E648-AED3-CDFA355B6D8F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#1. Media Móvil Simple (SMA)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k = 3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serie.rolling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=k).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mean()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#2. Media Móvil Ponderada (WMA)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([0.2, 0.3, 0.5])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np.dot(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wma_series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serie.rolling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=3).</a:t>
            </a:r>
            <a:r>
              <a:rPr lang="es-MX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apply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raw=True)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#3. Media Móvil Exponencial (EMA)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0.3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serie.ewm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=False).mean()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7464CE4-D925-CDB5-7383-47B0F6D6B92A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640DE19-52DB-6BEC-750A-3D7C0474B3C7}"/>
              </a:ext>
            </a:extLst>
          </p:cNvPr>
          <p:cNvSpPr txBox="1"/>
          <p:nvPr/>
        </p:nvSpPr>
        <p:spPr>
          <a:xfrm>
            <a:off x="5985050" y="3551468"/>
            <a:ext cx="3049474" cy="646331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+mj-lt"/>
              </a:rPr>
              <a:t>Aplica la función </a:t>
            </a:r>
            <a:r>
              <a:rPr lang="es-MX" b="1" dirty="0" err="1">
                <a:latin typeface="+mj-lt"/>
              </a:rPr>
              <a:t>wma</a:t>
            </a:r>
            <a:r>
              <a:rPr lang="es-MX" dirty="0">
                <a:latin typeface="+mj-lt"/>
              </a:rPr>
              <a:t> a la ventana de datos.</a:t>
            </a:r>
          </a:p>
        </p:txBody>
      </p:sp>
    </p:spTree>
    <p:extLst>
      <p:ext uri="{BB962C8B-B14F-4D97-AF65-F5344CB8AC3E}">
        <p14:creationId xmlns:p14="http://schemas.microsoft.com/office/powerpoint/2010/main" val="1127836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FAA2A-1CD1-5A9B-F958-471232E86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49881776-4956-55FC-256A-71F2BCFCDF8D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B5BB8B8F-0B4E-3846-118C-E9F88FDDA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DD925002-2644-C21A-83B5-C69AB417F58E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6CAF660B-3C53-1990-47E0-379587B7162B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#1. Media Móvil Simple (SMA)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k = 3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serie.rolling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=k).mean()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#2. Media Móvil Ponderada (WMA)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([0.2, 0.3, 0.5])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np.dot(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wma_series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serie.rolling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=3).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apply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raw=True)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#3. Media Móvil Exponencial (EMA)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0.3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serie.ewm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</a:t>
            </a:r>
            <a:r>
              <a:rPr lang="es-MX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=False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).mean()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1C2336F-EBBD-887B-E065-C9C8B2727245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57B40C29-7BF4-2107-0B0F-866AB2B3609B}"/>
                  </a:ext>
                </a:extLst>
              </p:cNvPr>
              <p:cNvSpPr txBox="1"/>
              <p:nvPr/>
            </p:nvSpPr>
            <p:spPr>
              <a:xfrm>
                <a:off x="5880244" y="4720594"/>
                <a:ext cx="3049474" cy="923330"/>
              </a:xfrm>
              <a:prstGeom prst="rect">
                <a:avLst/>
              </a:prstGeom>
              <a:solidFill>
                <a:srgbClr val="F3FEC3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dirty="0">
                    <a:latin typeface="+mj-lt"/>
                  </a:rPr>
                  <a:t>Calcula de forma recursiva:</a:t>
                </a:r>
                <a:br>
                  <a:rPr lang="es-MX" dirty="0">
                    <a:latin typeface="+mj-lt"/>
                  </a:rPr>
                </a:br>
                <a:endParaRPr lang="es-MX" dirty="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MX" dirty="0">
                  <a:latin typeface="+mj-lt"/>
                </a:endParaRP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57B40C29-7BF4-2107-0B0F-866AB2B36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244" y="4720594"/>
                <a:ext cx="3049474" cy="923330"/>
              </a:xfrm>
              <a:prstGeom prst="rect">
                <a:avLst/>
              </a:prstGeom>
              <a:blipFill>
                <a:blip r:embed="rId3"/>
                <a:stretch>
                  <a:fillRect t="-3289" b="-197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79002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90380-AF54-2D0E-B668-CCDAB37C2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8E70A959-EF72-5AB0-4DD9-A5441899F1DC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C44FE3C5-92F9-56FB-21EA-F97FA404C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F87B1D94-B173-DF3D-C30C-E4B7687FF163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</a:t>
            </a:r>
          </a:p>
        </p:txBody>
      </p:sp>
      <p:sp>
        <p:nvSpPr>
          <p:cNvPr id="7" name="2 Marcador de contenido">
            <a:extLst>
              <a:ext uri="{FF2B5EF4-FFF2-40B4-BE49-F238E27FC236}">
                <a16:creationId xmlns:a16="http://schemas.microsoft.com/office/drawing/2014/main" id="{FAD5B3BB-4D4A-C812-0B8E-0A22234CC13E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#Resultados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"y": serie,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"SMA":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"WMA":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wma_series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"EMA":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15D7FC4-411C-8C86-0A20-8D6F015A658A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pic>
        <p:nvPicPr>
          <p:cNvPr id="6" name="Imagen 5" descr="Imagen que contiene teclado, computadora, grande, hombre&#10;&#10;El contenido generado por IA puede ser incorrecto.">
            <a:extLst>
              <a:ext uri="{FF2B5EF4-FFF2-40B4-BE49-F238E27FC236}">
                <a16:creationId xmlns:a16="http://schemas.microsoft.com/office/drawing/2014/main" id="{86758E43-A98A-7670-7641-113B75221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747" y="928670"/>
            <a:ext cx="3343742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17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ECE4E-2FA6-4ECA-593C-03B6B8CA4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85D4D85B-3BC0-5EFF-D314-CDC021F46B7E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D5FA44F2-33C3-C99D-60BA-DC3EEE7C3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F52228CF-47A8-A828-8167-894C5EBCF5E3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3DA93D9-0807-0E15-3732-B7C4360551F7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C5B5F8E2-6B59-DD53-8F0B-0102AFFFE7D6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#Gráfica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plt.figure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figsize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=(10,5))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(serie,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="Serie original",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="o")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="SMA (k=3)",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="--")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wma_series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="WMA (0.5,0.3,0.2)",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="--")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="EMA (</a:t>
            </a:r>
            <a:r>
              <a:rPr lang="el-G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α=0.3)", </a:t>
            </a:r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linewidth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=2)</a:t>
            </a:r>
          </a:p>
          <a:p>
            <a:pPr marL="0" lvl="1" algn="just"/>
            <a:endParaRPr lang="es-MX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plt.legend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("Comparación SMA vs WMA vs EMA")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plt.xlabel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("Tiempo")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("Valor")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plt.grid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</a:p>
          <a:p>
            <a:pPr marL="0" lvl="1" algn="just"/>
            <a:r>
              <a:rPr lang="es-MX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s-MX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53013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3E390-EA20-92AB-958D-1B5C424F9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D6A9ED75-E6F8-DA3C-64BE-BDB8AC6E0E68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E8F821AF-F1E9-F2F4-7C55-38BF22940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585266A0-D1CC-BEFD-F77C-0F8D3F2C884B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DBCF49A-FAC7-A628-67A2-0BB32C4D9C39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pic>
        <p:nvPicPr>
          <p:cNvPr id="3" name="Imagen 2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B7EFD183-A3A3-3680-5D2C-B15315333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085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A9B0E-5C34-1E17-D595-50C5C4FCD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A90549A8-0CF8-3226-14F5-04BFAA81810D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FDDA20D0-AD51-57DF-D170-3749DE1A9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DDBBB788-1018-1395-D25E-6FAB270F41D0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- Pronósticos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C8D45A0-9ECE-EE25-984A-4FDE0867F0EC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48D73AE6-B1A1-2674-9DEE-8C895D0C4508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numpy as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pandas as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metrics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mask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~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np.isnan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mask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mask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mae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np.mean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np.abs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np.mean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 ** 2)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rmse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np.sqrt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np.mean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np.abs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 /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 * 100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smape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np.mean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2 *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np.abs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 / 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np.abs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np.abs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) * 100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mae,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rmse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smape</a:t>
            </a:r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590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9FB13-E949-00B8-C5D1-A95E22237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7E80BA7C-5D55-08DF-6E18-D44E562F5C7F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6F3F56AD-415C-EF77-2B83-4D6BBB24F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514E5B11-130E-98FF-875D-2B9E076D346E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- Pronósticos</a:t>
            </a: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E7C09A7B-6FCA-4A36-2409-C425C9CFC0CF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85791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# Serie de tiempo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data = [10, 12, 13, 16, 15, 20, 22, 21, 23, 25,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26, 28, 30, 29, 31, 33, 35, 36, 38, 42]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serie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#1. Media Móvil Simple (SMA)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serie.rolling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=3).mean()</a:t>
            </a:r>
          </a:p>
          <a:p>
            <a:pPr marL="0" lvl="1" algn="just"/>
            <a:r>
              <a:rPr lang="es-MX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sma_forecast</a:t>
            </a:r>
            <a:r>
              <a:rPr lang="es-MX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sma.shift</a:t>
            </a:r>
            <a:r>
              <a:rPr lang="es-MX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#2. Media Móvil Ponderada (WMA)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([0.2, 0.3, 0.5])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(x):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np.dot(x,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wma_series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serie.rolling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(3).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apply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raw=True)</a:t>
            </a:r>
          </a:p>
          <a:p>
            <a:pPr marL="0" lvl="1" algn="just"/>
            <a:r>
              <a:rPr lang="es-MX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wma_forecast</a:t>
            </a:r>
            <a:r>
              <a:rPr lang="es-MX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wma_series.shift</a:t>
            </a:r>
            <a:r>
              <a:rPr lang="es-MX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#3. Media Móvil Exponencial (EMA)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0.99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serie.ewm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=False).mean()</a:t>
            </a:r>
          </a:p>
          <a:p>
            <a:pPr marL="0" lvl="1" algn="just"/>
            <a:r>
              <a:rPr lang="es-MX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ema_forecast</a:t>
            </a:r>
            <a:r>
              <a:rPr lang="es-MX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ema.shift</a:t>
            </a:r>
            <a:r>
              <a:rPr lang="es-MX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05F83A6-B1BC-5A28-41D2-5488E15EA76E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latin typeface="Trebuchet MS"/>
                <a:cs typeface="Trebuchet MS"/>
              </a:rPr>
              <a:t>1 </a:t>
            </a:r>
            <a:r>
              <a:rPr lang="es-ES" b="1" dirty="0">
                <a:latin typeface="Trebuchet MS"/>
                <a:cs typeface="Trebuchet MS"/>
              </a:rPr>
              <a:t>/ 32</a:t>
            </a:r>
            <a:endParaRPr lang="es-MX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D096D7-461A-9B47-6D65-BB0DA0F8D864}"/>
              </a:ext>
            </a:extLst>
          </p:cNvPr>
          <p:cNvSpPr txBox="1"/>
          <p:nvPr/>
        </p:nvSpPr>
        <p:spPr>
          <a:xfrm>
            <a:off x="4727924" y="2635763"/>
            <a:ext cx="3745516" cy="646331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pPr algn="ctr"/>
            <a:r>
              <a:rPr lang="es-MX" dirty="0"/>
              <a:t>El valor suavizado en 𝑡−1 se usa para pronosticar 𝑡.</a:t>
            </a:r>
          </a:p>
        </p:txBody>
      </p:sp>
    </p:spTree>
    <p:extLst>
      <p:ext uri="{BB962C8B-B14F-4D97-AF65-F5344CB8AC3E}">
        <p14:creationId xmlns:p14="http://schemas.microsoft.com/office/powerpoint/2010/main" val="165254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09721-510E-A976-FC80-47FEA8B24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E659BA9F-0EB0-D43E-6C0E-89C0C1546C72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7CECDB9A-F608-7439-751F-F698B95F2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9D3E62D8-A276-3E94-DB99-8238C19EB331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- Pronósticos</a:t>
            </a: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53548AAE-DB1A-2A46-9C07-193C5B716683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92933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#Resultados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"y": serie,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"SMA":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sma_forecast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"WMA":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wma_forecast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"EMA":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ema_forecast</a:t>
            </a:r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#Gráfica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plt.figure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figsize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=(10,5))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(serie,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="Serie original",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marker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="o")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sma_forecast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="SMA (k=3)",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="--")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wma_forecast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="WMA (0.5,0.3,0.2)",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="--")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ema_forecast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="EMA (</a:t>
            </a:r>
            <a:r>
              <a:rPr lang="el-G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α=0.3)",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linewidth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=2)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plt.legend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("Comparación pronósticos SMA vs WMA vs EMA")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plt.xlabel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("Tiempo")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("Valor")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plt.grid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1A30D24-439B-B315-9D98-FD55B46B6541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latin typeface="Trebuchet MS"/>
                <a:cs typeface="Trebuchet MS"/>
              </a:rPr>
              <a:t>1 </a:t>
            </a:r>
            <a:r>
              <a:rPr lang="es-ES" b="1" dirty="0">
                <a:latin typeface="Trebuchet MS"/>
                <a:cs typeface="Trebuchet MS"/>
              </a:rPr>
              <a:t>/ 32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6292840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214C9-D078-5867-B179-A9524E3EB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56E8C824-A75D-0DA2-360D-69E9FF7341EC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EA20FE40-683A-8E52-AB9E-639330240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BD2E58E6-8266-8002-02ED-06A7AB5EE388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- Pronósticos</a:t>
            </a: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661AE327-2903-B23B-CB15-FFDCF72C90C0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48218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"SMA":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metrics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(serie,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sma_forecast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"WMA":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metrics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(serie,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wma_forecast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"EMA":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metrics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(serie,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ema_forecast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},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=["MAE", "MSE", "RMSE", "MAPE", "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sMAPE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"])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90FFB10-715D-30EB-69A5-DE662E59026C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latin typeface="Trebuchet MS"/>
                <a:cs typeface="Trebuchet MS"/>
              </a:rPr>
              <a:t>1 </a:t>
            </a:r>
            <a:r>
              <a:rPr lang="es-ES" b="1" dirty="0">
                <a:latin typeface="Trebuchet MS"/>
                <a:cs typeface="Trebuchet MS"/>
              </a:rPr>
              <a:t>/ 32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40636021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A2E42-DAE6-4DDE-B5F6-7AD208562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BDF047E0-2739-EB05-ED39-1C733D9C0745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5BA5F4C9-1A88-564F-6D16-2FDE8148A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FAE621E2-6AAB-1FCD-C676-D26EB1C17389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- Pronósticos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D7028AD-E302-4EF4-1C2F-9078B87FB5CE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pic>
        <p:nvPicPr>
          <p:cNvPr id="6" name="Imagen 5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7E8B97F4-AFB2-9530-52BA-6A002C05D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450" y="813735"/>
            <a:ext cx="3353268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998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BE2CE-7F90-97BD-7DD2-1A08D9A8F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447AE36B-09ED-996A-A97D-C828187F0ED1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E036D7D3-364C-023A-B5CD-602290029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D4AB804B-F9A2-10FD-9834-C60AE7CB1399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47B932-5530-342A-B397-2AE935570A37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pic>
        <p:nvPicPr>
          <p:cNvPr id="6" name="Imagen 5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50C1089B-38E7-0641-58E1-5D09388AC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965" y="823261"/>
            <a:ext cx="3353268" cy="5468113"/>
          </a:xfrm>
          <a:prstGeom prst="rect">
            <a:avLst/>
          </a:prstGeom>
        </p:spPr>
      </p:pic>
      <p:pic>
        <p:nvPicPr>
          <p:cNvPr id="7" name="Imagen 6" descr="Imagen que contiene teclado, computadora, grande, hombre&#10;&#10;El contenido generado por IA puede ser incorrecto.">
            <a:extLst>
              <a:ext uri="{FF2B5EF4-FFF2-40B4-BE49-F238E27FC236}">
                <a16:creationId xmlns:a16="http://schemas.microsoft.com/office/drawing/2014/main" id="{AF3AAFE0-2F70-81DC-E7D3-F473C59CB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34" y="813734"/>
            <a:ext cx="3343742" cy="5487166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115FF2A-CF60-2453-39B2-A69C1DACB7FA}"/>
              </a:ext>
            </a:extLst>
          </p:cNvPr>
          <p:cNvSpPr/>
          <p:nvPr/>
        </p:nvSpPr>
        <p:spPr>
          <a:xfrm>
            <a:off x="5984240" y="1092016"/>
            <a:ext cx="1577678" cy="746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6CF4B7-3C6B-549A-62FB-4F967DA0C3E1}"/>
              </a:ext>
            </a:extLst>
          </p:cNvPr>
          <p:cNvSpPr/>
          <p:nvPr/>
        </p:nvSpPr>
        <p:spPr>
          <a:xfrm>
            <a:off x="7639549" y="1092016"/>
            <a:ext cx="895684" cy="3237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591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3B771-126D-A875-6FE6-28EDBABB8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DFFACEA7-C523-65B1-4D58-5E50448CE85A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94594E80-637D-2E51-06BD-3DD36ECE7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C2023102-83AE-7EF4-8D8B-D03426CD5F36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EE9B72-22F2-578D-C1FC-C742EBCB7AA5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pic>
        <p:nvPicPr>
          <p:cNvPr id="3" name="Imagen 2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50B34256-701E-8AE5-CD19-469E2BDDE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2876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F93C0-E197-C50D-BEEE-B84730FA7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383DD29B-59F9-D621-06EA-642023AB2432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33585359-8128-6CAB-F121-E8427A433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E2AB1339-F364-35F9-4F2A-039153969686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A0697AB-A093-45D6-2359-CB581C4FF9FF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A421432D-D03A-DD0F-056A-A71CB0937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065" y="1622946"/>
            <a:ext cx="4729869" cy="195337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602BDD0-B2B1-8DC6-5ADD-3BBFA7F3AF6C}"/>
              </a:ext>
            </a:extLst>
          </p:cNvPr>
          <p:cNvSpPr/>
          <p:nvPr/>
        </p:nvSpPr>
        <p:spPr>
          <a:xfrm>
            <a:off x="4358640" y="1912490"/>
            <a:ext cx="1239520" cy="1714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81185CE-AC64-C018-CB52-13120DC0EFF8}"/>
              </a:ext>
            </a:extLst>
          </p:cNvPr>
          <p:cNvSpPr txBox="1"/>
          <p:nvPr/>
        </p:nvSpPr>
        <p:spPr>
          <a:xfrm>
            <a:off x="3495626" y="4118329"/>
            <a:ext cx="29655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El mejor es WMA</a:t>
            </a:r>
          </a:p>
        </p:txBody>
      </p:sp>
    </p:spTree>
    <p:extLst>
      <p:ext uri="{BB962C8B-B14F-4D97-AF65-F5344CB8AC3E}">
        <p14:creationId xmlns:p14="http://schemas.microsoft.com/office/powerpoint/2010/main" val="16506411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8955F-4A9A-FABA-93CB-F950F91DA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21395EA3-9ADE-0FA9-A0CE-97DF68800D57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FBFB6588-D2DF-649C-E17F-B1F84A7A8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8F6FA7B4-597D-5B6D-3E2F-02ABC47EF553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– Ajuste alfa en EMA</a:t>
            </a: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ABD6194E-23EB-65F6-6F92-19AE093067A0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48218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numpy as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pandas as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rmse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lvl="1" algn="just"/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np.sqrt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np.mean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)**2))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data = [10, 12, 13, 16, 15, 20, 22, 21, 23, 25,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26, 28, 30, 29, 31, 33, 35, 36, 38, 42]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serie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7BB236B-7819-6292-0156-798DDF154BF4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latin typeface="Trebuchet MS"/>
                <a:cs typeface="Trebuchet MS"/>
              </a:rPr>
              <a:t>1 </a:t>
            </a:r>
            <a:r>
              <a:rPr lang="es-ES" b="1" dirty="0">
                <a:latin typeface="Trebuchet MS"/>
                <a:cs typeface="Trebuchet MS"/>
              </a:rPr>
              <a:t>/ 32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5524593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590A0-9C62-8109-9DA3-3AA68CE4D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C8FF43AF-2EBE-8C19-FFD7-6D5C9476714E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2D429106-1F38-B791-F81C-E9EE9E334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34AA260C-5097-5D06-7D86-A7F870739E12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– Ajuste alfa en EMA</a:t>
            </a: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8B45C215-5F51-8A97-AD9D-C9025AC85CE1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48218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5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s-MX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(0.01, 1.0, 0.01)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MX" sz="15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s-MX" sz="1500" dirty="0" err="1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serie.ewm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s-MX" sz="15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=False).mean()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ema.shift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error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rmse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(serie[1:],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[1:])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errors.append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(error)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np.argmin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best_error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min(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("Mejor alfa: " +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("Mejor error: " +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best_error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pic>
        <p:nvPicPr>
          <p:cNvPr id="4" name="Imagen 3" descr="Imagen en blanco y negro de un teclado de computadora&#10;&#10;El contenido generado por IA puede ser incorrecto.">
            <a:extLst>
              <a:ext uri="{FF2B5EF4-FFF2-40B4-BE49-F238E27FC236}">
                <a16:creationId xmlns:a16="http://schemas.microsoft.com/office/drawing/2014/main" id="{99DBE79A-4B15-2D43-140B-1E4467AA9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148" y="4476417"/>
            <a:ext cx="7001852" cy="238158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AE3A162-03B0-E2E2-EBE1-D2B1F31EF2A8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2314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9CA8C-5F01-46F3-DF3C-9BB533C0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95BA2597-5C3B-6941-9EDE-989FD293628D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6C25E4A3-E6E2-5F78-8F55-3AA3383A5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A848FF71-56D9-997C-A4C6-E1110887D846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– Ajuste alfa en EMA</a:t>
            </a: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D92C76F1-5E7B-2650-5399-ED98E027E4DA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48218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(0.01, 1.0, 0.01)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a in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serie.ewm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=a,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=False).mean()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ema.shift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error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rmse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(serie[</a:t>
            </a:r>
            <a:r>
              <a:rPr lang="es-MX" sz="15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:],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[1:])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errors.append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(error)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np.argmin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best_error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min(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("Mejor alfa: " +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("Mejor error: " +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best_error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9089E1A-B2C3-9DA6-70B9-B178B5EA6183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02FAEBE-4C80-A715-A22E-B205FA62525C}"/>
              </a:ext>
            </a:extLst>
          </p:cNvPr>
          <p:cNvSpPr txBox="1"/>
          <p:nvPr/>
        </p:nvSpPr>
        <p:spPr>
          <a:xfrm>
            <a:off x="5526118" y="2390894"/>
            <a:ext cx="3403600" cy="646331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pPr algn="ctr"/>
            <a:r>
              <a:rPr lang="es-MX" dirty="0"/>
              <a:t>Empieza en 1 porque el primer valor no tiene pronóstico</a:t>
            </a:r>
          </a:p>
        </p:txBody>
      </p:sp>
    </p:spTree>
    <p:extLst>
      <p:ext uri="{BB962C8B-B14F-4D97-AF65-F5344CB8AC3E}">
        <p14:creationId xmlns:p14="http://schemas.microsoft.com/office/powerpoint/2010/main" val="14305235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31F34-1CA7-ADE0-D01F-D317F6AA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CFE64EAD-BCF7-8032-D8ED-A3BC117E6625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ADD9F9C5-BA8D-53D2-390A-6797AC886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10599FDA-3ADB-C569-11EF-BF182BACD093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– Ajuste alfa en EMA</a:t>
            </a: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66D9EE29-D113-E823-DF46-C5075E0BE54F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48218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(0.01, 1.0, 0.01)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a in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serie.ewm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=a,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=False).mean()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ema.shift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error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rmse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(serie[1:],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[1:])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MX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(error)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np.argmin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best_error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min(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("Mejor alfa: " +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("Mejor error: " +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best_error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993DDA8-C266-4B31-4FC7-1E7131B1F26F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01E0C0C-E715-94FB-F791-6B4A89920A7D}"/>
              </a:ext>
            </a:extLst>
          </p:cNvPr>
          <p:cNvSpPr txBox="1"/>
          <p:nvPr/>
        </p:nvSpPr>
        <p:spPr>
          <a:xfrm>
            <a:off x="5283200" y="2782669"/>
            <a:ext cx="3088640" cy="646331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pPr algn="ctr"/>
            <a:r>
              <a:rPr lang="es-MX" dirty="0"/>
              <a:t>Guarda el error correspondiente a ese α.</a:t>
            </a:r>
          </a:p>
        </p:txBody>
      </p:sp>
    </p:spTree>
    <p:extLst>
      <p:ext uri="{BB962C8B-B14F-4D97-AF65-F5344CB8AC3E}">
        <p14:creationId xmlns:p14="http://schemas.microsoft.com/office/powerpoint/2010/main" val="18015596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0494F-2CE5-0AB5-E077-B64596CC8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115AE3EF-0C38-FE3D-4A6C-24E5522BC853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D4F793A2-C5CB-31BA-C3EB-7C19CB313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6C7E63B2-4DE2-73BB-1879-2DE0D0F6CBE9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– Ajuste alfa en EMA</a:t>
            </a: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2D499943-C348-E815-0B68-3EC20090294E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48218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(0.01, 1.0, 0.01)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a in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serie.ewm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=a,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=False).mean()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ema.shift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error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rmse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(serie[1:],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[1:])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MX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(error)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np.argmin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best_error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min(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("Mejor alfa: " +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("Mejor error: " +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best_error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F98FF22-AB8B-7C00-DBE1-0C67DEFB183D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6625CCF-0F44-B2F7-A596-D5A338DFFFE1}"/>
              </a:ext>
            </a:extLst>
          </p:cNvPr>
          <p:cNvSpPr txBox="1"/>
          <p:nvPr/>
        </p:nvSpPr>
        <p:spPr>
          <a:xfrm>
            <a:off x="5293360" y="2481674"/>
            <a:ext cx="3088640" cy="646331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pPr algn="ctr"/>
            <a:r>
              <a:rPr lang="es-MX" dirty="0"/>
              <a:t>Guarda el error correspondiente a ese α.</a:t>
            </a: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C842E88D-5BC6-BB39-D1A1-8BDDB4FC5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347" y="3207030"/>
            <a:ext cx="2000529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173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CC9C4-206D-A296-DC70-0A3E82EAE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42103D5E-D269-6C99-883E-2F8185BA4A24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3E0CF373-E2DB-7188-AFD4-B847884B3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6BFC5CF1-324C-1CBB-67D5-06CF2D6CF9C3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– Ajuste alfa en EMA</a:t>
            </a: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BB561864-3925-B0FF-7A87-51CB74FF5E02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48218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(0.01, 1.0, 0.01)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a in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serie.ewm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=a,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=False).mean()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ema.shift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error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rmse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(serie[1:],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[1:])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errors.append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(error)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</a:t>
            </a:r>
            <a:r>
              <a:rPr lang="es-MX" sz="15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argmin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best_error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min(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("Mejor alfa: " +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("Mejor error: " +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best_error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03108D4-CF14-512C-0814-DA6A6877BA3D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F5EA5DD-89CE-51E6-3FA6-04561876349F}"/>
              </a:ext>
            </a:extLst>
          </p:cNvPr>
          <p:cNvSpPr txBox="1"/>
          <p:nvPr/>
        </p:nvSpPr>
        <p:spPr>
          <a:xfrm>
            <a:off x="5283200" y="3213544"/>
            <a:ext cx="3088640" cy="923330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pPr algn="ctr"/>
            <a:r>
              <a:rPr lang="es-MX" dirty="0"/>
              <a:t>Índice del menor error para obtener de </a:t>
            </a:r>
            <a:r>
              <a:rPr lang="es-MX" b="1" i="1" dirty="0" err="1"/>
              <a:t>alphas</a:t>
            </a:r>
            <a:r>
              <a:rPr lang="es-MX" dirty="0"/>
              <a:t> el valor de α correspondiente.</a:t>
            </a:r>
          </a:p>
        </p:txBody>
      </p:sp>
    </p:spTree>
    <p:extLst>
      <p:ext uri="{BB962C8B-B14F-4D97-AF65-F5344CB8AC3E}">
        <p14:creationId xmlns:p14="http://schemas.microsoft.com/office/powerpoint/2010/main" val="2921132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80DFA-EE89-F933-A1A9-6AB1F916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8A3CEF13-DD6E-7793-4EBB-11DB6A22285B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5D74A7C4-4B6E-5DAB-748B-21C6C6E3D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CE938F10-8B3C-C4D1-ADA6-674213A76A10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– Ajuste alfa en EMA</a:t>
            </a: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B05EDCDE-FD0D-CD8B-2781-77D884DF0C9E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48218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(0.01, 1.0, 0.01)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a in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serie.ewm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=a,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=False).mean()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ema.shift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error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rmse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(serie[1:],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forecast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[1:])</a:t>
            </a:r>
          </a:p>
          <a:p>
            <a:pPr marL="0" lvl="1" algn="just"/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errors.append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(error)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np.argmin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best_error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MX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endParaRPr lang="es-MX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("Mejor alfa: " +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best_alpha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("Mejor error: " +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best_error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858867C-36BD-325F-4DBA-D26A822A8875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838B79-86BC-A614-0E22-C2A2DCD31523}"/>
              </a:ext>
            </a:extLst>
          </p:cNvPr>
          <p:cNvSpPr txBox="1"/>
          <p:nvPr/>
        </p:nvSpPr>
        <p:spPr>
          <a:xfrm>
            <a:off x="5303520" y="3736134"/>
            <a:ext cx="3088640" cy="646331"/>
          </a:xfrm>
          <a:prstGeom prst="rect">
            <a:avLst/>
          </a:prstGeom>
          <a:solidFill>
            <a:srgbClr val="F3FEC3"/>
          </a:solidFill>
        </p:spPr>
        <p:txBody>
          <a:bodyPr wrap="square">
            <a:spAutoFit/>
          </a:bodyPr>
          <a:lstStyle/>
          <a:p>
            <a:pPr algn="ctr"/>
            <a:r>
              <a:rPr lang="es-MX" dirty="0"/>
              <a:t>Valor más pequeño de los errores.</a:t>
            </a: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34EC6499-E19A-117E-267A-B0F54E6E6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263" y="4721690"/>
            <a:ext cx="4565455" cy="68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318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14E51-DDC3-7A79-496C-5F18D7E39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BDBA4F57-B175-2398-E81D-CDF63206F79D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1A89DCD5-2641-6E16-1D04-4BEE5EED0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2346E308-B6BE-5451-3ACD-BE422E55109B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– Ajuste alfa en EMA</a:t>
            </a:r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5E65E8D9-709F-D782-AF30-D6411D0C4376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482189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alphas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plt.xlabel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l-G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α")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plt.ylabel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("RMSE")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("Optimización de </a:t>
            </a:r>
            <a:r>
              <a:rPr lang="el-G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α 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en EMA")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plt.grid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</a:p>
          <a:p>
            <a:pPr marL="0" lvl="1" algn="just"/>
            <a:r>
              <a:rPr lang="es-MX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s-MX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A0BB274-3AEE-32D5-B83D-679B4B2A906B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latin typeface="Trebuchet MS"/>
                <a:cs typeface="Trebuchet MS"/>
              </a:rPr>
              <a:t>1 </a:t>
            </a:r>
            <a:r>
              <a:rPr lang="es-ES" b="1" dirty="0">
                <a:latin typeface="Trebuchet MS"/>
                <a:cs typeface="Trebuchet MS"/>
              </a:rPr>
              <a:t>/ 32</a:t>
            </a:r>
            <a:endParaRPr lang="es-MX" b="1" dirty="0"/>
          </a:p>
        </p:txBody>
      </p:sp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E86EAED3-FCE2-AB74-8F06-CCA0DA9CEE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29" t="5188" r="9038"/>
          <a:stretch>
            <a:fillRect/>
          </a:stretch>
        </p:blipFill>
        <p:spPr>
          <a:xfrm>
            <a:off x="4124959" y="1933353"/>
            <a:ext cx="4918863" cy="402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205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BCF41-3EE9-03BE-91A6-023B32EEA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EE9B37FB-3A05-F752-4D4E-760629D61D6E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062666AF-C635-3F0F-45CA-4F73915DB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63F310DE-8416-4B4C-71DE-F8D94FCB10C7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– Ajuste alfa en EMA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B49C089-6306-3786-BFEC-F15C27F66394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latin typeface="Trebuchet MS"/>
                <a:cs typeface="Trebuchet MS"/>
              </a:rPr>
              <a:t>1 </a:t>
            </a:r>
            <a:r>
              <a:rPr lang="es-ES" b="1" dirty="0">
                <a:latin typeface="Trebuchet MS"/>
                <a:cs typeface="Trebuchet MS"/>
              </a:rPr>
              <a:t>/ 32</a:t>
            </a:r>
            <a:endParaRPr lang="es-MX" b="1" dirty="0"/>
          </a:p>
        </p:txBody>
      </p:sp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BFCE704E-D75B-236E-759E-AB852037C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7A965B1-CA92-9AAA-A385-85CBAB40AE2B}"/>
              </a:ext>
            </a:extLst>
          </p:cNvPr>
          <p:cNvSpPr txBox="1"/>
          <p:nvPr/>
        </p:nvSpPr>
        <p:spPr>
          <a:xfrm>
            <a:off x="1017121" y="912155"/>
            <a:ext cx="3646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EMA con </a:t>
            </a:r>
            <a:r>
              <a:rPr lang="el-GR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α</a:t>
            </a:r>
            <a:r>
              <a:rPr lang="es-MX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0.99</a:t>
            </a:r>
            <a:endParaRPr lang="es-MX" sz="2400" b="1" dirty="0"/>
          </a:p>
        </p:txBody>
      </p:sp>
    </p:spTree>
    <p:extLst>
      <p:ext uri="{BB962C8B-B14F-4D97-AF65-F5344CB8AC3E}">
        <p14:creationId xmlns:p14="http://schemas.microsoft.com/office/powerpoint/2010/main" val="7030913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A340A-A7D0-75A3-F597-6B8CCABA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BD0747D0-5B08-3330-68C7-45C5D9210B38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81950320-2676-5ADA-3DE5-D2D7ED9E4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827B8B3E-A86C-2F90-77ED-751AD0E21511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Implementación – Ajuste alfa en EMA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A6B3ED1-0D6F-8EA7-1549-E7EF754B094C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solidFill>
                  <a:schemeClr val="bg1"/>
                </a:solidFill>
                <a:latin typeface="Trebuchet MS"/>
                <a:cs typeface="Trebuchet MS"/>
              </a:rPr>
              <a:t>1 </a:t>
            </a:r>
            <a:r>
              <a:rPr lang="es-ES" b="1" dirty="0">
                <a:solidFill>
                  <a:schemeClr val="bg1"/>
                </a:solidFill>
                <a:latin typeface="Trebuchet MS"/>
                <a:cs typeface="Trebuchet MS"/>
              </a:rPr>
              <a:t>/ 32</a:t>
            </a:r>
            <a:endParaRPr lang="es-MX" b="1" dirty="0">
              <a:solidFill>
                <a:schemeClr val="bg1"/>
              </a:solidFill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1476A936-DB4F-E40E-C7EF-467856302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82" y="1297826"/>
            <a:ext cx="4729869" cy="195337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0EF0F45-4949-8457-1B58-88B7441B9605}"/>
              </a:ext>
            </a:extLst>
          </p:cNvPr>
          <p:cNvSpPr/>
          <p:nvPr/>
        </p:nvSpPr>
        <p:spPr>
          <a:xfrm>
            <a:off x="2365857" y="1587370"/>
            <a:ext cx="1239520" cy="1714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E685AEC-A9D5-88F2-7FD4-EDF79FA06B72}"/>
              </a:ext>
            </a:extLst>
          </p:cNvPr>
          <p:cNvSpPr txBox="1"/>
          <p:nvPr/>
        </p:nvSpPr>
        <p:spPr>
          <a:xfrm>
            <a:off x="5428269" y="1923341"/>
            <a:ext cx="29655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El mejor es WMA</a:t>
            </a:r>
          </a:p>
          <a:p>
            <a:pPr algn="ctr"/>
            <a:r>
              <a:rPr lang="el-GR" sz="2800" b="1" dirty="0"/>
              <a:t>α = 0.</a:t>
            </a:r>
            <a:r>
              <a:rPr lang="es-MX" sz="2800" b="1" dirty="0"/>
              <a:t>3</a:t>
            </a:r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8EB6CB1B-FAD3-9AF8-A2DD-F7BF2A285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82" y="3477374"/>
            <a:ext cx="4729869" cy="195337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F4D141D-AB42-D943-EEA1-35B73AB6066A}"/>
              </a:ext>
            </a:extLst>
          </p:cNvPr>
          <p:cNvSpPr txBox="1"/>
          <p:nvPr/>
        </p:nvSpPr>
        <p:spPr>
          <a:xfrm>
            <a:off x="5428268" y="4102594"/>
            <a:ext cx="29655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/>
              <a:t>El mejor es WMA</a:t>
            </a:r>
          </a:p>
          <a:p>
            <a:pPr algn="ctr"/>
            <a:r>
              <a:rPr lang="el-GR" sz="2800" b="1" dirty="0"/>
              <a:t>α = 0.99</a:t>
            </a:r>
            <a:endParaRPr lang="es-MX" sz="28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E8412C9-FFF2-0EE0-DAED-7E72EE8C368B}"/>
              </a:ext>
            </a:extLst>
          </p:cNvPr>
          <p:cNvSpPr/>
          <p:nvPr/>
        </p:nvSpPr>
        <p:spPr>
          <a:xfrm>
            <a:off x="3693048" y="3716119"/>
            <a:ext cx="1239520" cy="1714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59103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32E60-C1BD-52B1-C720-5F54CE9E7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59AFEE8F-EA2D-1E64-F53C-C09EE16F7530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2D99111C-39D2-78F5-6B58-8BCFDA26F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0681E208-45AF-7A69-2417-12B39F4246B9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Ejercicio: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70E36D5-ED59-2EA1-D502-A948563787C6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latin typeface="Trebuchet MS"/>
                <a:cs typeface="Trebuchet MS"/>
              </a:rPr>
              <a:t>1 </a:t>
            </a:r>
            <a:r>
              <a:rPr lang="es-ES" b="1" dirty="0">
                <a:latin typeface="Trebuchet MS"/>
                <a:cs typeface="Trebuchet MS"/>
              </a:rPr>
              <a:t>/ 32</a:t>
            </a:r>
            <a:endParaRPr lang="es-MX" b="1" dirty="0"/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E941B721-38EC-3AD9-79AE-B16A6C734327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dirty="0">
                <a:latin typeface="+mj-lt"/>
              </a:rPr>
              <a:t>Considere los siguientes cuatro conjuntos de datos:</a:t>
            </a: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r>
              <a:rPr lang="es-MX" dirty="0">
                <a:latin typeface="+mj-lt"/>
              </a:rPr>
              <a:t>Conjunto 1:</a:t>
            </a:r>
          </a:p>
          <a:p>
            <a:pPr marL="0" lvl="1" algn="just"/>
            <a:r>
              <a:rPr lang="es-MX" dirty="0">
                <a:latin typeface="+mj-lt"/>
              </a:rPr>
              <a:t>[10, 12, 14, 16, 18, 20, 22, 24, 26, 28, 30, 32, 34, 36, 38, 40, 42, 44, 46, 48]</a:t>
            </a: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r>
              <a:rPr lang="es-MX" dirty="0"/>
              <a:t>Conjunto 2:</a:t>
            </a:r>
          </a:p>
          <a:p>
            <a:pPr marL="0" lvl="1" algn="just"/>
            <a:r>
              <a:rPr lang="es-MX" dirty="0">
                <a:latin typeface="+mj-lt"/>
              </a:rPr>
              <a:t>[20, 21, 19, 20, 22, 21, 20, 19, 21, 20, 22, 21, 20, 19, 21, 20, 22, 21, 20, 19]</a:t>
            </a: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r>
              <a:rPr lang="es-MX" dirty="0"/>
              <a:t>Conjunto 3:</a:t>
            </a:r>
          </a:p>
          <a:p>
            <a:pPr marL="0" lvl="1" algn="just"/>
            <a:r>
              <a:rPr lang="es-MX" dirty="0">
                <a:latin typeface="+mj-lt"/>
              </a:rPr>
              <a:t>[10, 13, 12, 15, 14,  17, 16, 19, 18, 21, 20, 23, 22, 25, 24,  27, 26, 29, 28, 31]</a:t>
            </a: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r>
              <a:rPr lang="es-MX" dirty="0"/>
              <a:t>Conjunto 4:</a:t>
            </a:r>
          </a:p>
          <a:p>
            <a:pPr marL="0" lvl="1" algn="just"/>
            <a:r>
              <a:rPr lang="es-MX" dirty="0">
                <a:latin typeface="+mj-lt"/>
              </a:rPr>
              <a:t>[20, 25, 20, 25, 20,  25, 20, 25, 20, 25, 20, 25, 20, 25, 20,  25, 20, 25, 20, 25]</a:t>
            </a:r>
          </a:p>
        </p:txBody>
      </p:sp>
    </p:spTree>
    <p:extLst>
      <p:ext uri="{BB962C8B-B14F-4D97-AF65-F5344CB8AC3E}">
        <p14:creationId xmlns:p14="http://schemas.microsoft.com/office/powerpoint/2010/main" val="18386055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7A977-13E8-99FE-A9AB-2108981CB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1085CAAA-15AE-7DBC-5AC6-F7B3A990A0DB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57771AAD-A910-BBE0-6392-E1468A4C4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159E5686-E73C-5343-38C9-DCCC906D3046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Ejercicio: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28B6641-C858-DC12-0854-42B5372915DD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latin typeface="Trebuchet MS"/>
                <a:cs typeface="Trebuchet MS"/>
              </a:rPr>
              <a:t>1 </a:t>
            </a:r>
            <a:r>
              <a:rPr lang="es-ES" b="1" dirty="0">
                <a:latin typeface="Trebuchet MS"/>
                <a:cs typeface="Trebuchet MS"/>
              </a:rPr>
              <a:t>/ 32</a:t>
            </a:r>
            <a:endParaRPr lang="es-MX" b="1" dirty="0"/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EECDFEE0-86C5-F671-1ECC-D9D2352EB78E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1" algn="just"/>
            <a:r>
              <a:rPr lang="es-MX" b="1" dirty="0">
                <a:latin typeface="+mj-lt"/>
              </a:rPr>
              <a:t>Actividad 1:</a:t>
            </a:r>
          </a:p>
          <a:p>
            <a:pPr marL="342900" lvl="1" indent="-342900" algn="just">
              <a:buFont typeface="+mj-lt"/>
              <a:buAutoNum type="arabicPeriod"/>
            </a:pPr>
            <a:r>
              <a:rPr lang="es-MX" dirty="0">
                <a:latin typeface="+mj-lt"/>
              </a:rPr>
              <a:t>Aplica los métodos SMA, WMA y EMA a las cuatro series temporales para suavizar la serie.</a:t>
            </a:r>
          </a:p>
          <a:p>
            <a:pPr marL="342900" lvl="1" indent="-342900" algn="just">
              <a:buFont typeface="+mj-lt"/>
              <a:buAutoNum type="arabicPeriod"/>
            </a:pPr>
            <a:r>
              <a:rPr lang="es-MX" dirty="0"/>
              <a:t>Grafica los datos reales y los datos suavizados de los métodos.</a:t>
            </a:r>
          </a:p>
          <a:p>
            <a:pPr marL="342900" lvl="1" indent="-342900" algn="just">
              <a:buFont typeface="+mj-lt"/>
              <a:buAutoNum type="arabicPeriod"/>
            </a:pPr>
            <a:r>
              <a:rPr lang="es-MX" dirty="0"/>
              <a:t>Describa el comportamiento de cada método en cada una de las series.</a:t>
            </a: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endParaRPr lang="es-MX" dirty="0">
              <a:latin typeface="+mj-lt"/>
            </a:endParaRPr>
          </a:p>
          <a:p>
            <a:pPr marL="0" lvl="1" algn="just"/>
            <a:r>
              <a:rPr lang="es-MX" b="1" dirty="0">
                <a:latin typeface="+mj-lt"/>
              </a:rPr>
              <a:t>Actividad 2:</a:t>
            </a:r>
          </a:p>
          <a:p>
            <a:pPr marL="342900" lvl="1" indent="-342900" algn="just">
              <a:buFont typeface="+mj-lt"/>
              <a:buAutoNum type="arabicPeriod"/>
            </a:pPr>
            <a:r>
              <a:rPr lang="es-MX" dirty="0">
                <a:latin typeface="+mj-lt"/>
              </a:rPr>
              <a:t>Utilice los mismos métodos pero ahora como modelos ingenuos de pronóstico a un paso.</a:t>
            </a:r>
          </a:p>
          <a:p>
            <a:pPr marL="342900" lvl="1" indent="-342900" algn="just">
              <a:buFont typeface="+mj-lt"/>
              <a:buAutoNum type="arabicPeriod"/>
            </a:pPr>
            <a:r>
              <a:rPr lang="es-MX" dirty="0">
                <a:latin typeface="+mj-lt"/>
              </a:rPr>
              <a:t>Calcule MAE, RMSE, MAPE y </a:t>
            </a:r>
            <a:r>
              <a:rPr lang="es-MX" dirty="0" err="1">
                <a:latin typeface="+mj-lt"/>
              </a:rPr>
              <a:t>sMAPE</a:t>
            </a:r>
            <a:r>
              <a:rPr lang="es-MX" dirty="0">
                <a:latin typeface="+mj-lt"/>
              </a:rPr>
              <a:t>.</a:t>
            </a:r>
          </a:p>
          <a:p>
            <a:pPr marL="342900" lvl="1" indent="-342900" algn="just">
              <a:buFont typeface="+mj-lt"/>
              <a:buAutoNum type="arabicPeriod"/>
            </a:pPr>
            <a:r>
              <a:rPr lang="es-MX" dirty="0"/>
              <a:t>Grafica los datos reales y los datos pronosticados por los métodos.</a:t>
            </a:r>
          </a:p>
          <a:p>
            <a:pPr marL="342900" lvl="1" indent="-342900" algn="just">
              <a:buFont typeface="+mj-lt"/>
              <a:buAutoNum type="arabicPeriod"/>
            </a:pPr>
            <a:r>
              <a:rPr lang="es-MX" dirty="0">
                <a:latin typeface="+mj-lt"/>
              </a:rPr>
              <a:t>Compare los resultados y responde lo siguiente por cada una de las serie:</a:t>
            </a:r>
          </a:p>
          <a:p>
            <a:pPr marL="800100" lvl="2" indent="-342900" algn="just">
              <a:buFont typeface="Wingdings" panose="05000000000000000000" pitchFamily="2" charset="2"/>
              <a:buChar char="ü"/>
            </a:pPr>
            <a:r>
              <a:rPr lang="es-MX" dirty="0">
                <a:latin typeface="+mj-lt"/>
              </a:rPr>
              <a:t>¿Qué método responde mejor?</a:t>
            </a:r>
          </a:p>
          <a:p>
            <a:pPr marL="342900" marR="0" lvl="1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 dirty="0">
              <a:solidFill>
                <a:prstClr val="black"/>
              </a:solidFill>
              <a:latin typeface="Calibri"/>
            </a:endParaRPr>
          </a:p>
          <a:p>
            <a:pPr marL="0" marR="0" lvl="1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MX" dirty="0">
                <a:solidFill>
                  <a:prstClr val="black"/>
                </a:solidFill>
                <a:latin typeface="Calibri"/>
              </a:rPr>
              <a:t>Redacta tus conclusiones generales sobre los métodos con respecto a las dos actividades.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00100" lvl="2" indent="-342900" algn="just">
              <a:buFont typeface="Wingdings" panose="05000000000000000000" pitchFamily="2" charset="2"/>
              <a:buChar char="ü"/>
            </a:pPr>
            <a:endParaRPr lang="es-MX" dirty="0">
              <a:latin typeface="+mj-lt"/>
            </a:endParaRPr>
          </a:p>
          <a:p>
            <a:pPr marL="457200" lvl="2" algn="just"/>
            <a:endParaRPr lang="es-MX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167841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EF1A-E3E9-E641-F05F-7E09BC36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60E1D1E2-7F98-02C6-54C2-C0B766A12A9A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8269DFE9-4D14-BA8D-0451-0BCDC4474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FCCC9E4C-E840-6A16-6449-0192477D3608}"/>
              </a:ext>
            </a:extLst>
          </p:cNvPr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latin typeface="Trebuchet MS" pitchFamily="34" charset="0"/>
                <a:cs typeface="Arial" pitchFamily="34" charset="0"/>
              </a:rPr>
              <a:t>Ejercicio: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AFC414A-155E-AA69-7D3D-25442073825C}"/>
              </a:ext>
            </a:extLst>
          </p:cNvPr>
          <p:cNvSpPr/>
          <p:nvPr/>
        </p:nvSpPr>
        <p:spPr>
          <a:xfrm>
            <a:off x="8195318" y="6281848"/>
            <a:ext cx="9385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ES_tradnl" b="1" dirty="0">
                <a:latin typeface="Trebuchet MS"/>
                <a:cs typeface="Trebuchet MS"/>
              </a:rPr>
              <a:t>1 </a:t>
            </a:r>
            <a:r>
              <a:rPr lang="es-ES" b="1" dirty="0">
                <a:latin typeface="Trebuchet MS"/>
                <a:cs typeface="Trebuchet MS"/>
              </a:rPr>
              <a:t>/ 32</a:t>
            </a:r>
            <a:endParaRPr lang="es-MX" b="1" dirty="0"/>
          </a:p>
        </p:txBody>
      </p:sp>
      <p:sp>
        <p:nvSpPr>
          <p:cNvPr id="2" name="2 Marcador de contenido">
            <a:extLst>
              <a:ext uri="{FF2B5EF4-FFF2-40B4-BE49-F238E27FC236}">
                <a16:creationId xmlns:a16="http://schemas.microsoft.com/office/drawing/2014/main" id="{1A488827-7E4F-327A-5041-319EDB465475}"/>
              </a:ext>
            </a:extLst>
          </p:cNvPr>
          <p:cNvSpPr txBox="1">
            <a:spLocks/>
          </p:cNvSpPr>
          <p:nvPr/>
        </p:nvSpPr>
        <p:spPr>
          <a:xfrm>
            <a:off x="319088" y="928670"/>
            <a:ext cx="8539192" cy="5000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lvl="2" algn="just"/>
            <a:r>
              <a:rPr lang="es-MX" b="1" dirty="0">
                <a:latin typeface="+mj-lt"/>
              </a:rPr>
              <a:t>Entregables:</a:t>
            </a:r>
          </a:p>
          <a:p>
            <a:pPr marL="742950" lvl="2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+mj-lt"/>
              </a:rPr>
              <a:t>Subir documento de Word con los análisis de cada actividad y las conclusiones generales.</a:t>
            </a:r>
          </a:p>
          <a:p>
            <a:pPr marL="742950" lvl="2" indent="-285750" algn="just">
              <a:buFont typeface="Arial" panose="020B0604020202020204" pitchFamily="34" charset="0"/>
              <a:buChar char="•"/>
            </a:pPr>
            <a:endParaRPr kumimoji="0" lang="es-MX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742950" lvl="2" indent="-285750" algn="just">
              <a:buFont typeface="Arial" panose="020B0604020202020204" pitchFamily="34" charset="0"/>
              <a:buChar char="•"/>
            </a:pPr>
            <a:r>
              <a:rPr lang="es-MX" dirty="0">
                <a:solidFill>
                  <a:prstClr val="black"/>
                </a:solidFill>
                <a:latin typeface="+mj-lt"/>
              </a:rPr>
              <a:t>Subir códigos de programación.</a:t>
            </a:r>
            <a:endParaRPr kumimoji="0" lang="es-MX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00100" lvl="2" indent="-342900" algn="just">
              <a:buFont typeface="Wingdings" panose="05000000000000000000" pitchFamily="2" charset="2"/>
              <a:buChar char="ü"/>
            </a:pPr>
            <a:endParaRPr lang="es-MX" dirty="0">
              <a:latin typeface="+mj-lt"/>
            </a:endParaRPr>
          </a:p>
          <a:p>
            <a:pPr marL="457200" lvl="2" algn="just"/>
            <a:endParaRPr lang="es-MX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54360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/>
          <p:cNvSpPr txBox="1"/>
          <p:nvPr/>
        </p:nvSpPr>
        <p:spPr>
          <a:xfrm>
            <a:off x="214282" y="2558795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latin typeface="Trebuchet MS" pitchFamily="34" charset="0"/>
                <a:cs typeface="Arial" pitchFamily="34" charset="0"/>
              </a:rPr>
              <a:t>Modelos de suavizamiento exponencial</a:t>
            </a:r>
          </a:p>
        </p:txBody>
      </p:sp>
    </p:spTree>
    <p:extLst>
      <p:ext uri="{BB962C8B-B14F-4D97-AF65-F5344CB8AC3E}">
        <p14:creationId xmlns:p14="http://schemas.microsoft.com/office/powerpoint/2010/main" val="10855577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B030E-571A-8CC7-0744-ADB8541F9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EC70F576-5DF7-6721-D710-863F27614BBC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431AEB96-20C9-B441-1872-9D84DD2A6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987B88B8-E6D5-1239-81A9-299346E0A97E}"/>
              </a:ext>
            </a:extLst>
          </p:cNvPr>
          <p:cNvSpPr txBox="1"/>
          <p:nvPr/>
        </p:nvSpPr>
        <p:spPr>
          <a:xfrm>
            <a:off x="214282" y="2558795"/>
            <a:ext cx="8715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latin typeface="Trebuchet MS" pitchFamily="34" charset="0"/>
                <a:cs typeface="Arial" pitchFamily="34" charset="0"/>
              </a:rPr>
              <a:t>Modelos ARIMA (</a:t>
            </a:r>
            <a:r>
              <a:rPr lang="es-MX" sz="3600" b="1" dirty="0" err="1">
                <a:latin typeface="Trebuchet MS" pitchFamily="34" charset="0"/>
                <a:cs typeface="Arial" pitchFamily="34" charset="0"/>
              </a:rPr>
              <a:t>Autoregressive</a:t>
            </a:r>
            <a:r>
              <a:rPr lang="es-MX" sz="3600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s-MX" sz="3600" b="1" dirty="0" err="1">
                <a:latin typeface="Trebuchet MS" pitchFamily="34" charset="0"/>
                <a:cs typeface="Arial" pitchFamily="34" charset="0"/>
              </a:rPr>
              <a:t>Integrated</a:t>
            </a:r>
            <a:r>
              <a:rPr lang="es-MX" sz="3600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s-MX" sz="3600" b="1" dirty="0" err="1">
                <a:latin typeface="Trebuchet MS" pitchFamily="34" charset="0"/>
                <a:cs typeface="Arial" pitchFamily="34" charset="0"/>
              </a:rPr>
              <a:t>Moving</a:t>
            </a:r>
            <a:r>
              <a:rPr lang="es-MX" sz="3600" b="1" dirty="0">
                <a:latin typeface="Trebuchet MS" pitchFamily="34" charset="0"/>
                <a:cs typeface="Arial" pitchFamily="34" charset="0"/>
              </a:rPr>
              <a:t> </a:t>
            </a:r>
            <a:r>
              <a:rPr lang="es-MX" sz="3600" b="1" dirty="0" err="1">
                <a:latin typeface="Trebuchet MS" pitchFamily="34" charset="0"/>
                <a:cs typeface="Arial" pitchFamily="34" charset="0"/>
              </a:rPr>
              <a:t>Average</a:t>
            </a:r>
            <a:r>
              <a:rPr lang="es-MX" sz="3600" b="1" dirty="0">
                <a:latin typeface="Trebuchet MS" pitchFamily="34" charset="0"/>
                <a:cs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59223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F824-F8F5-2192-8683-0AEAFE858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3AB758D9-82A8-0072-FA78-7790FF001EC0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C45F7004-9DDE-F1AA-1BB7-99C982C1B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9CB25019-7A93-8CEE-9181-4998EF7DC04C}"/>
              </a:ext>
            </a:extLst>
          </p:cNvPr>
          <p:cNvSpPr txBox="1"/>
          <p:nvPr/>
        </p:nvSpPr>
        <p:spPr>
          <a:xfrm>
            <a:off x="214282" y="2558795"/>
            <a:ext cx="8715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latin typeface="Trebuchet MS" pitchFamily="34" charset="0"/>
                <a:cs typeface="Arial" pitchFamily="34" charset="0"/>
              </a:rPr>
              <a:t>Métodos de descomposición de series temporales</a:t>
            </a:r>
          </a:p>
        </p:txBody>
      </p:sp>
    </p:spTree>
    <p:extLst>
      <p:ext uri="{BB962C8B-B14F-4D97-AF65-F5344CB8AC3E}">
        <p14:creationId xmlns:p14="http://schemas.microsoft.com/office/powerpoint/2010/main" val="21887124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0D7BF-0085-432E-0614-31E974F3D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>
            <a:extLst>
              <a:ext uri="{FF2B5EF4-FFF2-40B4-BE49-F238E27FC236}">
                <a16:creationId xmlns:a16="http://schemas.microsoft.com/office/drawing/2014/main" id="{E11CB51D-9AD4-F1E0-5B1D-E9CAACB86325}"/>
              </a:ext>
            </a:extLst>
          </p:cNvPr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>
            <a:extLst>
              <a:ext uri="{FF2B5EF4-FFF2-40B4-BE49-F238E27FC236}">
                <a16:creationId xmlns:a16="http://schemas.microsoft.com/office/drawing/2014/main" id="{877F8D72-185C-807B-092C-CC1377A7A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sp>
        <p:nvSpPr>
          <p:cNvPr id="10" name="9 CuadroTexto">
            <a:extLst>
              <a:ext uri="{FF2B5EF4-FFF2-40B4-BE49-F238E27FC236}">
                <a16:creationId xmlns:a16="http://schemas.microsoft.com/office/drawing/2014/main" id="{01B1F4E4-11BC-4D9E-F998-20349C8BD51D}"/>
              </a:ext>
            </a:extLst>
          </p:cNvPr>
          <p:cNvSpPr txBox="1"/>
          <p:nvPr/>
        </p:nvSpPr>
        <p:spPr>
          <a:xfrm>
            <a:off x="214282" y="2558795"/>
            <a:ext cx="8715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latin typeface="Trebuchet MS" pitchFamily="34" charset="0"/>
                <a:cs typeface="Arial" pitchFamily="34" charset="0"/>
              </a:rPr>
              <a:t>Modelos de tendencia y estacionalidad en series temporales</a:t>
            </a:r>
          </a:p>
        </p:txBody>
      </p:sp>
    </p:spTree>
    <p:extLst>
      <p:ext uri="{BB962C8B-B14F-4D97-AF65-F5344CB8AC3E}">
        <p14:creationId xmlns:p14="http://schemas.microsoft.com/office/powerpoint/2010/main" val="20743711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42844" y="-24"/>
            <a:ext cx="721523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Universidad Autónoma </a:t>
            </a:r>
          </a:p>
          <a:p>
            <a:pPr algn="ctr"/>
            <a:r>
              <a:rPr lang="es-MX" sz="4200" spc="300" dirty="0">
                <a:solidFill>
                  <a:schemeClr val="bg1"/>
                </a:solidFill>
                <a:latin typeface="Comic Sans MS" pitchFamily="66" charset="0"/>
              </a:rPr>
              <a:t>de Cd. Juárez</a:t>
            </a:r>
          </a:p>
        </p:txBody>
      </p:sp>
      <p:pic>
        <p:nvPicPr>
          <p:cNvPr id="14338" name="Picture 2" descr="C:\Universidad Autónoma de Ciudad Juarez\Ago-Dic 2016\Presentacion UACJ 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1"/>
            <a:ext cx="9144032" cy="6857999"/>
          </a:xfrm>
          <a:prstGeom prst="rect">
            <a:avLst/>
          </a:prstGeom>
          <a:noFill/>
        </p:spPr>
      </p:pic>
      <p:pic>
        <p:nvPicPr>
          <p:cNvPr id="7" name="Picture 7" descr="https://dinamicasistemasjuanboes.files.wordpress.com/2014/08/pregunta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8" y="1214438"/>
            <a:ext cx="3214687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9 CuadroTexto"/>
          <p:cNvSpPr txBox="1"/>
          <p:nvPr/>
        </p:nvSpPr>
        <p:spPr>
          <a:xfrm>
            <a:off x="214282" y="71414"/>
            <a:ext cx="871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3600" b="1" dirty="0">
                <a:latin typeface="Trebuchet MS" pitchFamily="34" charset="0"/>
                <a:cs typeface="Arial" pitchFamily="34" charset="0"/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37303593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21835</TotalTime>
  <Words>5855</Words>
  <Application>Microsoft Office PowerPoint</Application>
  <PresentationFormat>Presentación en pantalla (4:3)</PresentationFormat>
  <Paragraphs>1543</Paragraphs>
  <Slides>58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58</vt:i4>
      </vt:variant>
    </vt:vector>
  </HeadingPairs>
  <TitlesOfParts>
    <vt:vector size="66" baseType="lpstr">
      <vt:lpstr>Arial</vt:lpstr>
      <vt:lpstr>Calibri</vt:lpstr>
      <vt:lpstr>Cambria Math</vt:lpstr>
      <vt:lpstr>Comic Sans MS</vt:lpstr>
      <vt:lpstr>Courier New</vt:lpstr>
      <vt:lpstr>Trebuchet MS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Usuario</dc:creator>
  <cp:lastModifiedBy>Rogelio Florencia Juarez</cp:lastModifiedBy>
  <cp:revision>974</cp:revision>
  <dcterms:created xsi:type="dcterms:W3CDTF">2016-07-04T18:26:33Z</dcterms:created>
  <dcterms:modified xsi:type="dcterms:W3CDTF">2026-01-30T03:10:38Z</dcterms:modified>
</cp:coreProperties>
</file>